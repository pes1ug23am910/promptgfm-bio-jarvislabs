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63" r:id="rId3"/>
    <p:sldId id="282" r:id="rId4"/>
    <p:sldId id="285" r:id="rId5"/>
    <p:sldId id="284" r:id="rId6"/>
    <p:sldId id="286" r:id="rId7"/>
    <p:sldId id="287" r:id="rId8"/>
    <p:sldId id="283" r:id="rId9"/>
    <p:sldId id="279"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108"/>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6F41761D-6855-D076-1C66-6E3FEDCE3442}"/>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17F6C194-7990-1F58-5C42-D1ED03DEAC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8837ECD6-0FA9-8BF6-66D0-8B1C632825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360A4E0A-568D-A95E-277F-B08DECD822B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extLst>
      <p:ext uri="{BB962C8B-B14F-4D97-AF65-F5344CB8AC3E}">
        <p14:creationId xmlns:p14="http://schemas.microsoft.com/office/powerpoint/2010/main" val="1008992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42DE545E-BF79-91B0-BFCC-53DFBCA9DCED}"/>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2D16F157-3278-BB89-3252-A998D52ACE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5F9B45FC-7B2F-740F-AD8C-5E943BEBA3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75050AFF-1A8F-28A6-00FC-85B354EA646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49987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E97C5EED-D8DA-5238-432E-04524F1535D7}"/>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73F4834B-365A-9378-E1A0-60F22681F9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26834D16-6016-7B95-90B8-0B0A7BC975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DEB7C697-1A98-23ED-8307-BBE7440BBE6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648553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EDA0082C-CA04-7839-AE4E-36DFDF5FA1BD}"/>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103177B4-852F-59E0-FBBE-9E8B425D17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2949EF3A-227E-3845-9711-FC9AFDF7E08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6052E6C1-CF1E-CA6C-CE09-458D18AEACE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2058021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DC9D9CAB-54EE-EC76-957E-E4C4D16E4912}"/>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4962ED2D-B19B-E6F3-0E5C-9E70E12FF5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175D43BA-0C45-92DC-ACD0-4BCD76B0C3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F6C870BB-4BC2-7B09-507D-BBB5D23F4DF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1560710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3BF340F7-9FEB-E796-CC5A-078781044EF1}"/>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C42A8567-714E-9609-0F5E-E6235F4D67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1EE88526-B396-DECA-FE1E-90F9572C56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B1F4FDA1-5817-51FD-FEF2-8CEB4C9883B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355547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20A20355-8516-CBDF-7711-5C1E66DB58D7}"/>
            </a:ext>
          </a:extLst>
        </p:cNvPr>
        <p:cNvGrpSpPr/>
        <p:nvPr/>
      </p:nvGrpSpPr>
      <p:grpSpPr>
        <a:xfrm>
          <a:off x="0" y="0"/>
          <a:ext cx="0" cy="0"/>
          <a:chOff x="0" y="0"/>
          <a:chExt cx="0" cy="0"/>
        </a:xfrm>
      </p:grpSpPr>
      <p:sp>
        <p:nvSpPr>
          <p:cNvPr id="117" name="Google Shape;117;p3:notes">
            <a:extLst>
              <a:ext uri="{FF2B5EF4-FFF2-40B4-BE49-F238E27FC236}">
                <a16:creationId xmlns:a16="http://schemas.microsoft.com/office/drawing/2014/main" id="{0837D892-6366-B351-A2C8-A03E62B057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a:extLst>
              <a:ext uri="{FF2B5EF4-FFF2-40B4-BE49-F238E27FC236}">
                <a16:creationId xmlns:a16="http://schemas.microsoft.com/office/drawing/2014/main" id="{5B1C7FEC-BC5C-B5D4-392B-ED3E363EB4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a:extLst>
              <a:ext uri="{FF2B5EF4-FFF2-40B4-BE49-F238E27FC236}">
                <a16:creationId xmlns:a16="http://schemas.microsoft.com/office/drawing/2014/main" id="{D934D852-3CD3-0FA5-51A8-4B870604C3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4099144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7.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p:nvPr/>
        </p:nvSpPr>
        <p:spPr>
          <a:xfrm>
            <a:off x="4781916" y="1688267"/>
            <a:ext cx="7497214" cy="12002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IN" sz="3600" b="1" i="0" u="none" strike="noStrike" cap="none" dirty="0">
                <a:solidFill>
                  <a:srgbClr val="C55A11"/>
                </a:solidFill>
                <a:latin typeface="Calibri"/>
                <a:ea typeface="Calibri"/>
                <a:cs typeface="Calibri"/>
                <a:sym typeface="Calibri"/>
              </a:rPr>
              <a:t>Interdisciplinary Deep</a:t>
            </a:r>
            <a:r>
              <a:rPr lang="en-US" sz="3600" b="1" i="0" u="none" strike="noStrike" cap="none" dirty="0">
                <a:solidFill>
                  <a:srgbClr val="C55A11"/>
                </a:solidFill>
                <a:latin typeface="Calibri"/>
                <a:ea typeface="Calibri"/>
                <a:cs typeface="Calibri"/>
                <a:sym typeface="Calibri"/>
              </a:rPr>
              <a:t xml:space="preserve"> Learning On Graphs</a:t>
            </a:r>
            <a:endParaRPr sz="1400" b="0" i="0" u="none" strike="noStrike" cap="none" dirty="0">
              <a:solidFill>
                <a:srgbClr val="000000"/>
              </a:solidFill>
              <a:latin typeface="Arial"/>
              <a:ea typeface="Arial"/>
              <a:cs typeface="Arial"/>
              <a:sym typeface="Arial"/>
            </a:endParaRPr>
          </a:p>
        </p:txBody>
      </p:sp>
      <p:sp>
        <p:nvSpPr>
          <p:cNvPr id="90" name="Google Shape;90;p13"/>
          <p:cNvSpPr/>
          <p:nvPr/>
        </p:nvSpPr>
        <p:spPr>
          <a:xfrm>
            <a:off x="4781916" y="2841955"/>
            <a:ext cx="7497300" cy="646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dirty="0">
                <a:solidFill>
                  <a:srgbClr val="2F5496"/>
                </a:solidFill>
                <a:latin typeface="Calibri"/>
                <a:ea typeface="Calibri"/>
                <a:cs typeface="Calibri"/>
                <a:sym typeface="Calibri"/>
              </a:rPr>
              <a:t xml:space="preserve">Course Project Review  </a:t>
            </a:r>
            <a:endParaRPr sz="3600" b="1" i="0" u="none" strike="noStrike" cap="none" dirty="0">
              <a:solidFill>
                <a:srgbClr val="2F5496"/>
              </a:solidFill>
              <a:latin typeface="Calibri"/>
              <a:ea typeface="Calibri"/>
              <a:cs typeface="Calibri"/>
              <a:sym typeface="Calibri"/>
            </a:endParaRPr>
          </a:p>
        </p:txBody>
      </p:sp>
      <p:sp>
        <p:nvSpPr>
          <p:cNvPr id="91" name="Google Shape;91;p13"/>
          <p:cNvSpPr/>
          <p:nvPr/>
        </p:nvSpPr>
        <p:spPr>
          <a:xfrm>
            <a:off x="4781916" y="4415503"/>
            <a:ext cx="7497214" cy="461665"/>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dk1"/>
                </a:solidFill>
                <a:latin typeface="Calibri"/>
                <a:ea typeface="Calibri"/>
                <a:cs typeface="Calibri"/>
                <a:sym typeface="Calibri"/>
              </a:rPr>
              <a:t>Node-to-Self</a:t>
            </a:r>
          </a:p>
        </p:txBody>
      </p:sp>
      <p:grpSp>
        <p:nvGrpSpPr>
          <p:cNvPr id="93" name="Google Shape;93;p13"/>
          <p:cNvGrpSpPr/>
          <p:nvPr/>
        </p:nvGrpSpPr>
        <p:grpSpPr>
          <a:xfrm>
            <a:off x="313844" y="5489699"/>
            <a:ext cx="1066895" cy="1078155"/>
            <a:chOff x="313844" y="5489699"/>
            <a:chExt cx="1066895" cy="1078155"/>
          </a:xfrm>
        </p:grpSpPr>
        <p:sp>
          <p:nvSpPr>
            <p:cNvPr id="94" name="Google Shape;94;p13"/>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 name="Google Shape;95;p13"/>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96" name="Google Shape;96;p13"/>
          <p:cNvCxnSpPr/>
          <p:nvPr/>
        </p:nvCxnSpPr>
        <p:spPr>
          <a:xfrm rot="10800000" flipH="1">
            <a:off x="4781916" y="4112436"/>
            <a:ext cx="4581449" cy="1"/>
          </a:xfrm>
          <a:prstGeom prst="straightConnector1">
            <a:avLst/>
          </a:prstGeom>
          <a:noFill/>
          <a:ln w="38100" cap="flat" cmpd="sng">
            <a:solidFill>
              <a:srgbClr val="C55A11"/>
            </a:solidFill>
            <a:prstDash val="solid"/>
            <a:miter lim="800000"/>
            <a:headEnd type="none" w="sm" len="sm"/>
            <a:tailEnd type="none" w="sm" len="sm"/>
          </a:ln>
        </p:spPr>
      </p:cxnSp>
      <p:grpSp>
        <p:nvGrpSpPr>
          <p:cNvPr id="97" name="Google Shape;97;p13"/>
          <p:cNvGrpSpPr/>
          <p:nvPr/>
        </p:nvGrpSpPr>
        <p:grpSpPr>
          <a:xfrm rot="10800000">
            <a:off x="10855702" y="266068"/>
            <a:ext cx="1066895" cy="1078155"/>
            <a:chOff x="313844" y="5489699"/>
            <a:chExt cx="1066895" cy="1078155"/>
          </a:xfrm>
        </p:grpSpPr>
        <p:sp>
          <p:nvSpPr>
            <p:cNvPr id="98" name="Google Shape;98;p13"/>
            <p:cNvSpPr/>
            <p:nvPr/>
          </p:nvSpPr>
          <p:spPr>
            <a:xfrm rot="5400000">
              <a:off x="824432" y="6011547"/>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13"/>
            <p:cNvSpPr/>
            <p:nvPr/>
          </p:nvSpPr>
          <p:spPr>
            <a:xfrm rot="10800000">
              <a:off x="313844" y="5489699"/>
              <a:ext cx="45719" cy="106689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00" name="Google Shape;100;p13"/>
          <p:cNvPicPr preferRelativeResize="0"/>
          <p:nvPr/>
        </p:nvPicPr>
        <p:blipFill rotWithShape="1">
          <a:blip r:embed="rId3">
            <a:alphaModFix/>
          </a:blip>
          <a:srcRect/>
          <a:stretch/>
        </p:blipFill>
        <p:spPr>
          <a:xfrm>
            <a:off x="1912638" y="1497243"/>
            <a:ext cx="2058881" cy="3812200"/>
          </a:xfrm>
          <a:prstGeom prst="rect">
            <a:avLst/>
          </a:prstGeom>
          <a:noFill/>
          <a:ln>
            <a:noFill/>
          </a:ln>
        </p:spPr>
      </p:pic>
      <p:sp>
        <p:nvSpPr>
          <p:cNvPr id="2" name="TextBox 1">
            <a:extLst>
              <a:ext uri="{FF2B5EF4-FFF2-40B4-BE49-F238E27FC236}">
                <a16:creationId xmlns:a16="http://schemas.microsoft.com/office/drawing/2014/main" id="{B1A70700-67DC-600B-072B-979048A6FF36}"/>
              </a:ext>
            </a:extLst>
          </p:cNvPr>
          <p:cNvSpPr txBox="1"/>
          <p:nvPr/>
        </p:nvSpPr>
        <p:spPr>
          <a:xfrm>
            <a:off x="4781916" y="4877168"/>
            <a:ext cx="3593123" cy="400110"/>
          </a:xfrm>
          <a:prstGeom prst="rect">
            <a:avLst/>
          </a:prstGeom>
          <a:noFill/>
        </p:spPr>
        <p:txBody>
          <a:bodyPr wrap="square" rtlCol="0">
            <a:spAutoFit/>
          </a:bodyPr>
          <a:lstStyle/>
          <a:p>
            <a:pPr lvl="0">
              <a:buClr>
                <a:schemeClr val="dk1"/>
              </a:buClr>
              <a:buSzPts val="2400"/>
            </a:pPr>
            <a:r>
              <a:rPr lang="en-IN" sz="2000" dirty="0">
                <a:solidFill>
                  <a:schemeClr val="dk1"/>
                </a:solidFill>
                <a:latin typeface="Calibri"/>
                <a:ea typeface="Calibri"/>
                <a:cs typeface="Calibri"/>
                <a:sym typeface="Calibri"/>
              </a:rPr>
              <a:t>Yash Verma (PES1UG23AM910)</a:t>
            </a: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BA433E5E-5F70-2A08-3B74-46F1729B45A3}"/>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821F158F-FC61-761D-56DD-B83D9EE79397}"/>
              </a:ext>
            </a:extLst>
          </p:cNvPr>
          <p:cNvSpPr/>
          <p:nvPr/>
        </p:nvSpPr>
        <p:spPr>
          <a:xfrm>
            <a:off x="326971" y="559620"/>
            <a:ext cx="8621851" cy="800108"/>
          </a:xfrm>
          <a:prstGeom prst="rect">
            <a:avLst/>
          </a:prstGeom>
          <a:noFill/>
          <a:ln>
            <a:noFill/>
          </a:ln>
        </p:spPr>
        <p:txBody>
          <a:bodyPr spcFirstLastPara="1" wrap="square" lIns="91425" tIns="45700" rIns="91425" bIns="45700" anchor="t" anchorCtr="0">
            <a:noAutofit/>
          </a:bodyPr>
          <a:lstStyle/>
          <a:p>
            <a:pPr lvl="0">
              <a:buSzPts val="2400"/>
            </a:pPr>
            <a:r>
              <a:rPr lang="en-US" sz="2400" b="1" dirty="0" err="1">
                <a:solidFill>
                  <a:schemeClr val="accent2"/>
                </a:solidFill>
                <a:latin typeface="Calibri"/>
                <a:ea typeface="Calibri"/>
                <a:cs typeface="Calibri"/>
                <a:sym typeface="Calibri"/>
              </a:rPr>
              <a:t>PromptGFM</a:t>
            </a:r>
            <a:r>
              <a:rPr lang="en-US" sz="2400" b="1" dirty="0">
                <a:solidFill>
                  <a:schemeClr val="accent2"/>
                </a:solidFill>
                <a:latin typeface="Calibri"/>
                <a:ea typeface="Calibri"/>
                <a:cs typeface="Calibri"/>
                <a:sym typeface="Calibri"/>
              </a:rPr>
              <a:t>-Bio: Prompt-Conditioned Graph Foundation Model for Rare-Disease Gene Mapping</a:t>
            </a:r>
            <a:endParaRPr lang="en-US" sz="2400" dirty="0"/>
          </a:p>
        </p:txBody>
      </p:sp>
      <p:cxnSp>
        <p:nvCxnSpPr>
          <p:cNvPr id="122" name="Google Shape;122;p15">
            <a:extLst>
              <a:ext uri="{FF2B5EF4-FFF2-40B4-BE49-F238E27FC236}">
                <a16:creationId xmlns:a16="http://schemas.microsoft.com/office/drawing/2014/main" id="{56D65F4A-FD40-9B3B-E4B5-0243D6287E1D}"/>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E355D294-9FC3-5D44-1443-B24EC870BF9D}"/>
              </a:ext>
            </a:extLst>
          </p:cNvPr>
          <p:cNvSpPr txBox="1">
            <a:spLocks noGrp="1"/>
          </p:cNvSpPr>
          <p:nvPr>
            <p:ph type="body" idx="1"/>
          </p:nvPr>
        </p:nvSpPr>
        <p:spPr>
          <a:xfrm>
            <a:off x="221464" y="1767766"/>
            <a:ext cx="10647918" cy="5090234"/>
          </a:xfrm>
          <a:prstGeom prst="rect">
            <a:avLst/>
          </a:prstGeom>
          <a:noFill/>
          <a:ln>
            <a:noFill/>
          </a:ln>
        </p:spPr>
        <p:txBody>
          <a:bodyPr spcFirstLastPara="1" wrap="square" lIns="91425" tIns="45700" rIns="91425" bIns="45700" anchor="t" anchorCtr="0">
            <a:normAutofit/>
          </a:bodyPr>
          <a:lstStyle/>
          <a:p>
            <a:r>
              <a:rPr lang="en-US" sz="1800" dirty="0"/>
              <a:t xml:space="preserve">Rare diseases affect over 300 million people worldwide, yet most have no effective treatment — the core bottleneck being </a:t>
            </a:r>
            <a:r>
              <a:rPr lang="en-US" sz="1800" b="1" dirty="0"/>
              <a:t>gene discovery</a:t>
            </a:r>
            <a:r>
              <a:rPr lang="en-US" sz="1800" dirty="0"/>
              <a:t>: identifying which genes cause a disease. For most rare diseases, only 1–5 causal genes are known, making this a severe long-tail learning problem where standard supervised methods fail.</a:t>
            </a:r>
          </a:p>
          <a:p>
            <a:r>
              <a:rPr lang="en-US" sz="1800" b="1" dirty="0" err="1"/>
              <a:t>PromptGFM</a:t>
            </a:r>
            <a:r>
              <a:rPr lang="en-US" sz="1800" b="1" dirty="0"/>
              <a:t>-Bio</a:t>
            </a:r>
            <a:r>
              <a:rPr lang="en-US" sz="1800" dirty="0"/>
              <a:t xml:space="preserve"> addresses this by framing gene discovery as a link prediction problem on a large heterogeneous biomedical knowledge graph (19,576 genes, 16,841 diseases, 1.85M protein-protein interaction edges). The model combines a </a:t>
            </a:r>
            <a:r>
              <a:rPr lang="en-US" sz="1800" b="1" dirty="0" err="1"/>
              <a:t>GraphSAGE</a:t>
            </a:r>
            <a:r>
              <a:rPr lang="en-US" sz="1800" b="1" dirty="0"/>
              <a:t xml:space="preserve"> GNN backbone</a:t>
            </a:r>
            <a:r>
              <a:rPr lang="en-US" sz="1800" dirty="0"/>
              <a:t xml:space="preserve"> with a </a:t>
            </a:r>
            <a:r>
              <a:rPr lang="en-US" sz="1800" b="1" dirty="0"/>
              <a:t xml:space="preserve">frozen </a:t>
            </a:r>
            <a:r>
              <a:rPr lang="en-US" sz="1800" b="1" dirty="0" err="1"/>
              <a:t>PubMedBERT</a:t>
            </a:r>
            <a:r>
              <a:rPr lang="en-US" sz="1800" b="1" dirty="0"/>
              <a:t xml:space="preserve"> prompt encoder</a:t>
            </a:r>
            <a:r>
              <a:rPr lang="en-US" sz="1800" dirty="0"/>
              <a:t xml:space="preserve">, connected via </a:t>
            </a:r>
            <a:r>
              <a:rPr lang="en-US" sz="1800" b="1" dirty="0" err="1"/>
              <a:t>FiLM</a:t>
            </a:r>
            <a:r>
              <a:rPr lang="en-US" sz="1800" b="1" dirty="0"/>
              <a:t xml:space="preserve"> conditioning</a:t>
            </a:r>
            <a:r>
              <a:rPr lang="en-US" sz="1800" dirty="0"/>
              <a:t xml:space="preserve"> — meaning a disease's natural language description dynamically modulates the GNN's message passing at every layer, not just at the final prediction step. This causes the same biological graph to produce different gene representations depending on the disease being queried.</a:t>
            </a:r>
          </a:p>
          <a:p>
            <a:r>
              <a:rPr lang="en-US" sz="1800" dirty="0"/>
              <a:t xml:space="preserve">Given any disease description as input, the model ranks all candidate genes by their predicted association strength. The current best model achieves </a:t>
            </a:r>
            <a:r>
              <a:rPr lang="en-US" sz="1800" b="1" dirty="0"/>
              <a:t>AUROC 0.9626</a:t>
            </a:r>
            <a:r>
              <a:rPr lang="en-US" sz="1800" dirty="0"/>
              <a:t xml:space="preserve"> and places the true causal gene in the top 50 (out of 19,576) for </a:t>
            </a:r>
            <a:r>
              <a:rPr lang="en-US" sz="1800" b="1" dirty="0"/>
              <a:t>55.7% of rare disease queries</a:t>
            </a:r>
            <a:r>
              <a:rPr lang="en-US" sz="1800" dirty="0"/>
              <a:t xml:space="preserve"> — a 392× enrichment over random chance. The model also supports </a:t>
            </a:r>
            <a:r>
              <a:rPr lang="en-US" sz="1800" b="1" dirty="0"/>
              <a:t>zero-shot generalization</a:t>
            </a:r>
            <a:r>
              <a:rPr lang="en-US" sz="1800" dirty="0"/>
              <a:t xml:space="preserve"> to diseases with no known gene associations seen during training.</a:t>
            </a:r>
          </a:p>
        </p:txBody>
      </p:sp>
      <p:pic>
        <p:nvPicPr>
          <p:cNvPr id="125" name="Google Shape;125;p15">
            <a:extLst>
              <a:ext uri="{FF2B5EF4-FFF2-40B4-BE49-F238E27FC236}">
                <a16:creationId xmlns:a16="http://schemas.microsoft.com/office/drawing/2014/main" id="{CC252F07-E532-421F-8D73-47B1F1B04974}"/>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7305047B-62A7-1C5B-68C2-AB36A8138D82}"/>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Tree>
    <p:extLst>
      <p:ext uri="{BB962C8B-B14F-4D97-AF65-F5344CB8AC3E}">
        <p14:creationId xmlns:p14="http://schemas.microsoft.com/office/powerpoint/2010/main" val="2189743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C0D7FC73-03BD-5A2C-3CC8-52D30E8E8A76}"/>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6A550E08-94ED-DC22-B571-8D27A599A029}"/>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What is unique about this project ?</a:t>
            </a:r>
            <a:endParaRPr lang="en-US" dirty="0"/>
          </a:p>
        </p:txBody>
      </p:sp>
      <p:cxnSp>
        <p:nvCxnSpPr>
          <p:cNvPr id="122" name="Google Shape;122;p15">
            <a:extLst>
              <a:ext uri="{FF2B5EF4-FFF2-40B4-BE49-F238E27FC236}">
                <a16:creationId xmlns:a16="http://schemas.microsoft.com/office/drawing/2014/main" id="{7D5328A5-644E-656F-9848-AC099FA551B2}"/>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7B3D918E-D2C2-8E96-9E85-79E0480B7A2F}"/>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F4E405B5-0D10-2787-8394-CE3423A4E9E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4" name="Rectangle 2">
            <a:extLst>
              <a:ext uri="{FF2B5EF4-FFF2-40B4-BE49-F238E27FC236}">
                <a16:creationId xmlns:a16="http://schemas.microsoft.com/office/drawing/2014/main" id="{6FB2BDDE-AB41-7BD0-E98A-AAB279DD1F42}"/>
              </a:ext>
            </a:extLst>
          </p:cNvPr>
          <p:cNvSpPr>
            <a:spLocks noGrp="1" noChangeArrowheads="1"/>
          </p:cNvSpPr>
          <p:nvPr>
            <p:ph type="body" idx="1"/>
          </p:nvPr>
        </p:nvSpPr>
        <p:spPr bwMode="auto">
          <a:xfrm>
            <a:off x="275492" y="2069198"/>
            <a:ext cx="114822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xml:space="preserve"> </a:t>
            </a:r>
            <a:r>
              <a:rPr kumimoji="0" lang="en-US" altLang="en-US" sz="1800" b="1" i="0" u="none" strike="noStrike" cap="none" normalizeH="0" baseline="0" dirty="0" err="1">
                <a:ln>
                  <a:noFill/>
                </a:ln>
                <a:solidFill>
                  <a:schemeClr val="tx1"/>
                </a:solidFill>
                <a:effectLst/>
                <a:latin typeface="Arial" panose="020B0604020202020204" pitchFamily="34" charset="0"/>
              </a:rPr>
              <a:t>FiLM</a:t>
            </a:r>
            <a:r>
              <a:rPr kumimoji="0" lang="en-US" altLang="en-US" sz="1800" b="1" i="0" u="none" strike="noStrike" cap="none" normalizeH="0" baseline="0" dirty="0">
                <a:ln>
                  <a:noFill/>
                </a:ln>
                <a:solidFill>
                  <a:schemeClr val="tx1"/>
                </a:solidFill>
                <a:effectLst/>
                <a:latin typeface="Arial" panose="020B0604020202020204" pitchFamily="34" charset="0"/>
              </a:rPr>
              <a:t>-Conditioned Message Passing:</a:t>
            </a:r>
            <a:r>
              <a:rPr kumimoji="0" lang="en-US" altLang="en-US" sz="1800" b="0" i="0" u="none" strike="noStrike" cap="none" normalizeH="0" baseline="0" dirty="0">
                <a:ln>
                  <a:noFill/>
                </a:ln>
                <a:solidFill>
                  <a:schemeClr val="tx1"/>
                </a:solidFill>
                <a:effectLst/>
                <a:latin typeface="Arial" panose="020B0604020202020204" pitchFamily="34" charset="0"/>
              </a:rPr>
              <a:t xml:space="preserve"> Disease text dynamically modulates GNN feature transformations at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every layer via learned scale (γ) and shift (β) parameters — the language signal enters </a:t>
            </a:r>
            <a:r>
              <a:rPr kumimoji="0" lang="en-US" altLang="en-US" sz="1800" b="0" i="1" u="none" strike="noStrike" cap="none" normalizeH="0" baseline="0" dirty="0">
                <a:ln>
                  <a:noFill/>
                </a:ln>
                <a:solidFill>
                  <a:schemeClr val="tx1"/>
                </a:solidFill>
                <a:effectLst/>
                <a:latin typeface="Arial" panose="020B0604020202020204" pitchFamily="34" charset="0"/>
              </a:rPr>
              <a:t>inside</a:t>
            </a:r>
            <a:r>
              <a:rPr kumimoji="0" lang="en-US" altLang="en-US" sz="1800" b="0" i="0" u="none" strike="noStrike" cap="none" normalizeH="0" baseline="0" dirty="0">
                <a:ln>
                  <a:noFill/>
                </a:ln>
                <a:solidFill>
                  <a:schemeClr val="tx1"/>
                </a:solidFill>
                <a:effectLst/>
                <a:latin typeface="Arial" panose="020B0604020202020204" pitchFamily="34" charset="0"/>
              </a:rPr>
              <a:t xml:space="preserve"> graph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reasoning, not as static input features or at the prediction head. No prior work does this for gene prioritization.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xml:space="preserve"> Free-Text Disease Queries:</a:t>
            </a:r>
            <a:r>
              <a:rPr kumimoji="0" lang="en-US" altLang="en-US" sz="1800" b="0" i="0" u="none" strike="noStrike" cap="none" normalizeH="0" baseline="0" dirty="0">
                <a:ln>
                  <a:noFill/>
                </a:ln>
                <a:solidFill>
                  <a:schemeClr val="tx1"/>
                </a:solidFill>
                <a:effectLst/>
                <a:latin typeface="Arial" panose="020B0604020202020204" pitchFamily="34" charset="0"/>
              </a:rPr>
              <a:t xml:space="preserve"> Unlike SHEPHERD (which requires structured HPO codes) or traditional KGE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methods (which need disease IDs), </a:t>
            </a:r>
            <a:r>
              <a:rPr kumimoji="0" lang="en-US" altLang="en-US" sz="1800" b="0" i="0" u="none" strike="noStrike" cap="none" normalizeH="0" baseline="0" dirty="0" err="1">
                <a:ln>
                  <a:noFill/>
                </a:ln>
                <a:solidFill>
                  <a:schemeClr val="tx1"/>
                </a:solidFill>
                <a:effectLst/>
                <a:latin typeface="Arial" panose="020B0604020202020204" pitchFamily="34" charset="0"/>
              </a:rPr>
              <a:t>PromptGFM</a:t>
            </a:r>
            <a:r>
              <a:rPr kumimoji="0" lang="en-US" altLang="en-US" sz="1800" b="0" i="0" u="none" strike="noStrike" cap="none" normalizeH="0" baseline="0" dirty="0">
                <a:ln>
                  <a:noFill/>
                </a:ln>
                <a:solidFill>
                  <a:schemeClr val="tx1"/>
                </a:solidFill>
                <a:effectLst/>
                <a:latin typeface="Arial" panose="020B0604020202020204" pitchFamily="34" charset="0"/>
              </a:rPr>
              <a:t xml:space="preserve">-Bio accepts arbitrary natural-language disease descriptions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via frozen </a:t>
            </a:r>
            <a:r>
              <a:rPr kumimoji="0" lang="en-US" altLang="en-US" sz="1800" b="0" i="0" u="none" strike="noStrike" cap="none" normalizeH="0" baseline="0" dirty="0" err="1">
                <a:ln>
                  <a:noFill/>
                </a:ln>
                <a:solidFill>
                  <a:schemeClr val="tx1"/>
                </a:solidFill>
                <a:effectLst/>
                <a:latin typeface="Arial" panose="020B0604020202020204" pitchFamily="34" charset="0"/>
              </a:rPr>
              <a:t>PubMedBERT</a:t>
            </a:r>
            <a:r>
              <a:rPr kumimoji="0" lang="en-US" altLang="en-US" sz="1800" b="0" i="0" u="none" strike="noStrike" cap="none" normalizeH="0" baseline="0" dirty="0">
                <a:ln>
                  <a:noFill/>
                </a:ln>
                <a:solidFill>
                  <a:schemeClr val="tx1"/>
                </a:solidFill>
                <a:effectLst/>
                <a:latin typeface="Arial" panose="020B0604020202020204" pitchFamily="34" charset="0"/>
              </a:rPr>
              <a:t xml:space="preserve">, enabling zero-shot generalization to diseases never seen during training.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xml:space="preserve"> Disease-Adaptive Graph Traversal:</a:t>
            </a:r>
            <a:r>
              <a:rPr kumimoji="0" lang="en-US" altLang="en-US" sz="1800" b="0" i="0" u="none" strike="noStrike" cap="none" normalizeH="0" baseline="0" dirty="0">
                <a:ln>
                  <a:noFill/>
                </a:ln>
                <a:solidFill>
                  <a:schemeClr val="tx1"/>
                </a:solidFill>
                <a:effectLst/>
                <a:latin typeface="Arial" panose="020B0604020202020204" pitchFamily="34" charset="0"/>
              </a:rPr>
              <a:t xml:space="preserve"> The same PPI network produces </a:t>
            </a:r>
            <a:r>
              <a:rPr kumimoji="0" lang="en-US" altLang="en-US" sz="1800" b="0" i="1" u="none" strike="noStrike" cap="none" normalizeH="0" baseline="0" dirty="0">
                <a:ln>
                  <a:noFill/>
                </a:ln>
                <a:solidFill>
                  <a:schemeClr val="tx1"/>
                </a:solidFill>
                <a:effectLst/>
                <a:latin typeface="Arial" panose="020B0604020202020204" pitchFamily="34" charset="0"/>
              </a:rPr>
              <a:t>different</a:t>
            </a:r>
            <a:r>
              <a:rPr kumimoji="0" lang="en-US" altLang="en-US" sz="1800" b="0" i="0" u="none" strike="noStrike" cap="none" normalizeH="0" baseline="0" dirty="0">
                <a:ln>
                  <a:noFill/>
                </a:ln>
                <a:solidFill>
                  <a:schemeClr val="tx1"/>
                </a:solidFill>
                <a:effectLst/>
                <a:latin typeface="Arial" panose="020B0604020202020204" pitchFamily="34" charset="0"/>
              </a:rPr>
              <a:t xml:space="preserve"> gene representations for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different disease prompts — the model learns to "look at the graph differently" depending on which disease is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being queried. Prior GNN methods (Mantis-ML 2.0, SHEPHERD, </a:t>
            </a:r>
            <a:r>
              <a:rPr kumimoji="0" lang="en-US" altLang="en-US" sz="1800" b="0" i="0" u="none" strike="noStrike" cap="none" normalizeH="0" baseline="0" dirty="0" err="1">
                <a:ln>
                  <a:noFill/>
                </a:ln>
                <a:solidFill>
                  <a:schemeClr val="tx1"/>
                </a:solidFill>
                <a:effectLst/>
                <a:latin typeface="Arial" panose="020B0604020202020204" pitchFamily="34" charset="0"/>
              </a:rPr>
              <a:t>KDGene</a:t>
            </a:r>
            <a:r>
              <a:rPr kumimoji="0" lang="en-US" altLang="en-US" sz="1800" b="0" i="0" u="none" strike="noStrike" cap="none" normalizeH="0" baseline="0" dirty="0">
                <a:ln>
                  <a:noFill/>
                </a:ln>
                <a:solidFill>
                  <a:schemeClr val="tx1"/>
                </a:solidFill>
                <a:effectLst/>
                <a:latin typeface="Arial" panose="020B0604020202020204" pitchFamily="34" charset="0"/>
              </a:rPr>
              <a:t xml:space="preserve">) generate disease-agnostic gene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embeddings. </a:t>
            </a:r>
          </a:p>
        </p:txBody>
      </p:sp>
    </p:spTree>
    <p:extLst>
      <p:ext uri="{BB962C8B-B14F-4D97-AF65-F5344CB8AC3E}">
        <p14:creationId xmlns:p14="http://schemas.microsoft.com/office/powerpoint/2010/main" val="3186951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2425F5BD-743E-FB29-F81B-581A6904F8C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7CD22AC2-5127-763A-FB34-8C6DCC60A24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What is unique about this project ?</a:t>
            </a:r>
            <a:endParaRPr lang="en-US" dirty="0"/>
          </a:p>
        </p:txBody>
      </p:sp>
      <p:cxnSp>
        <p:nvCxnSpPr>
          <p:cNvPr id="122" name="Google Shape;122;p15">
            <a:extLst>
              <a:ext uri="{FF2B5EF4-FFF2-40B4-BE49-F238E27FC236}">
                <a16:creationId xmlns:a16="http://schemas.microsoft.com/office/drawing/2014/main" id="{C0740631-BBFA-4FD7-BB13-C2287AD16588}"/>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C07F1B84-D6B9-DF2E-20CE-1051791E53B8}"/>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DCD95D3A-CD7B-DC8E-1BD7-9BD7F1D10790}"/>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4" name="Rectangle 2">
            <a:extLst>
              <a:ext uri="{FF2B5EF4-FFF2-40B4-BE49-F238E27FC236}">
                <a16:creationId xmlns:a16="http://schemas.microsoft.com/office/drawing/2014/main" id="{9B5D0E55-E03F-BC6E-2124-4C07A1E10DF4}"/>
              </a:ext>
            </a:extLst>
          </p:cNvPr>
          <p:cNvSpPr>
            <a:spLocks noGrp="1" noChangeArrowheads="1"/>
          </p:cNvSpPr>
          <p:nvPr>
            <p:ph type="body" idx="1"/>
          </p:nvPr>
        </p:nvSpPr>
        <p:spPr bwMode="auto">
          <a:xfrm>
            <a:off x="169984" y="2074791"/>
            <a:ext cx="1195387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xml:space="preserve"> Full-Vocabulary Gene Ranking:</a:t>
            </a:r>
            <a:r>
              <a:rPr kumimoji="0" lang="en-US" altLang="en-US" sz="1800" b="0" i="0" u="none" strike="noStrike" cap="none" normalizeH="0" baseline="0" dirty="0">
                <a:ln>
                  <a:noFill/>
                </a:ln>
                <a:solidFill>
                  <a:schemeClr val="tx1"/>
                </a:solidFill>
                <a:effectLst/>
                <a:latin typeface="Arial" panose="020B0604020202020204" pitchFamily="34" charset="0"/>
              </a:rPr>
              <a:t xml:space="preserve"> Evaluation ranks all ~19,576 candidate genes per disease query, not a small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candidate set (SHEPHERD: 13–244 genes) or a few negatives. This is rare in the literature and provides an honest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assessment of clinical utility.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solidFill>
                  <a:schemeClr val="tx1"/>
                </a:solidFill>
                <a:latin typeface="Arial" panose="020B0604020202020204" pitchFamily="34" charset="0"/>
              </a:rPr>
              <a:t xml:space="preserve"> </a:t>
            </a:r>
            <a:r>
              <a:rPr kumimoji="0" lang="en-US" altLang="en-US" sz="1800" b="1" i="0" u="none" strike="noStrike" cap="none" normalizeH="0" baseline="0" dirty="0">
                <a:ln>
                  <a:noFill/>
                </a:ln>
                <a:solidFill>
                  <a:schemeClr val="tx1"/>
                </a:solidFill>
                <a:effectLst/>
                <a:latin typeface="Arial" panose="020B0604020202020204" pitchFamily="34" charset="0"/>
              </a:rPr>
              <a:t>Heterogeneous Biomedical Knowledge Graph:</a:t>
            </a:r>
            <a:r>
              <a:rPr kumimoji="0" lang="en-US" altLang="en-US" sz="1800" b="0" i="0" u="none" strike="noStrike" cap="none" normalizeH="0" baseline="0" dirty="0">
                <a:ln>
                  <a:noFill/>
                </a:ln>
                <a:solidFill>
                  <a:schemeClr val="tx1"/>
                </a:solidFill>
                <a:effectLst/>
                <a:latin typeface="Arial" panose="020B0604020202020204" pitchFamily="34" charset="0"/>
              </a:rPr>
              <a:t xml:space="preserve"> Integrates STRING PPI (1.85M edges), </a:t>
            </a:r>
            <a:r>
              <a:rPr kumimoji="0" lang="en-US" altLang="en-US" sz="1800" b="0" i="0" u="none" strike="noStrike" cap="none" normalizeH="0" baseline="0" dirty="0" err="1">
                <a:ln>
                  <a:noFill/>
                </a:ln>
                <a:solidFill>
                  <a:schemeClr val="tx1"/>
                </a:solidFill>
                <a:effectLst/>
                <a:latin typeface="Arial" panose="020B0604020202020204" pitchFamily="34" charset="0"/>
              </a:rPr>
              <a:t>DisGeNET</a:t>
            </a:r>
            <a:r>
              <a:rPr kumimoji="0" lang="en-US" altLang="en-US" sz="1800" b="0" i="0" u="none" strike="noStrike" cap="none" normalizeH="0" baseline="0" dirty="0">
                <a:ln>
                  <a:noFill/>
                </a:ln>
                <a:solidFill>
                  <a:schemeClr val="tx1"/>
                </a:solidFill>
                <a:effectLst/>
                <a:latin typeface="Arial" panose="020B0604020202020204" pitchFamily="34" charset="0"/>
              </a:rPr>
              <a:t xml:space="preserve">, HPO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phenotype bridges, and </a:t>
            </a:r>
            <a:r>
              <a:rPr kumimoji="0" lang="en-US" altLang="en-US" sz="1800" b="0" i="0" u="none" strike="noStrike" cap="none" normalizeH="0" baseline="0" dirty="0" err="1">
                <a:ln>
                  <a:noFill/>
                </a:ln>
                <a:solidFill>
                  <a:schemeClr val="tx1"/>
                </a:solidFill>
                <a:effectLst/>
                <a:latin typeface="Arial" panose="020B0604020202020204" pitchFamily="34" charset="0"/>
              </a:rPr>
              <a:t>Orphanet</a:t>
            </a:r>
            <a:r>
              <a:rPr kumimoji="0" lang="en-US" altLang="en-US" sz="1800" b="0" i="0" u="none" strike="noStrike" cap="none" normalizeH="0" baseline="0" dirty="0">
                <a:ln>
                  <a:noFill/>
                </a:ln>
                <a:solidFill>
                  <a:schemeClr val="tx1"/>
                </a:solidFill>
                <a:effectLst/>
                <a:latin typeface="Arial" panose="020B0604020202020204" pitchFamily="34" charset="0"/>
              </a:rPr>
              <a:t xml:space="preserve"> into a single heterogeneous graph with 19,576 genes, 16,841 diseases,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11,794 phenotypes.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xml:space="preserve"> 117 Zero-Shot Rare Diseases:</a:t>
            </a:r>
            <a:r>
              <a:rPr kumimoji="0" lang="en-US" altLang="en-US" sz="1800" b="0" i="0" u="none" strike="noStrike" cap="none" normalizeH="0" baseline="0" dirty="0">
                <a:ln>
                  <a:noFill/>
                </a:ln>
                <a:solidFill>
                  <a:schemeClr val="tx1"/>
                </a:solidFill>
                <a:effectLst/>
                <a:latin typeface="Arial" panose="020B0604020202020204" pitchFamily="34" charset="0"/>
              </a:rPr>
              <a:t xml:space="preserve"> Identifies diseases with zero training edges for evaluating true generalization —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testing whether disease text alone can guide gene discovery without any prior labeled associations.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xml:space="preserve">  Combined Ranking-Aware Loss:</a:t>
            </a:r>
            <a:r>
              <a:rPr kumimoji="0" lang="en-US" altLang="en-US" sz="1800" b="0" i="0" u="none" strike="noStrike" cap="none" normalizeH="0" baseline="0" dirty="0">
                <a:ln>
                  <a:noFill/>
                </a:ln>
                <a:solidFill>
                  <a:schemeClr val="tx1"/>
                </a:solidFill>
                <a:effectLst/>
                <a:latin typeface="Arial" panose="020B0604020202020204" pitchFamily="34" charset="0"/>
              </a:rPr>
              <a:t xml:space="preserve"> Jointly optimizes BCE, pairwise margin ranking, and </a:t>
            </a:r>
            <a:r>
              <a:rPr kumimoji="0" lang="en-US" altLang="en-US" sz="1800" b="0" i="0" u="none" strike="noStrike" cap="none" normalizeH="0" baseline="0" dirty="0" err="1">
                <a:ln>
                  <a:noFill/>
                </a:ln>
                <a:solidFill>
                  <a:schemeClr val="tx1"/>
                </a:solidFill>
                <a:effectLst/>
                <a:latin typeface="Arial" panose="020B0604020202020204" pitchFamily="34" charset="0"/>
              </a:rPr>
              <a:t>ListNet</a:t>
            </a:r>
            <a:r>
              <a:rPr kumimoji="0" lang="en-US" altLang="en-US" sz="1800" b="0" i="0" u="none" strike="noStrike" cap="none" normalizeH="0" baseline="0" dirty="0">
                <a:ln>
                  <a:noFill/>
                </a:ln>
                <a:solidFill>
                  <a:schemeClr val="tx1"/>
                </a:solidFill>
                <a:effectLst/>
                <a:latin typeface="Arial" panose="020B0604020202020204" pitchFamily="34" charset="0"/>
              </a:rPr>
              <a:t xml:space="preserve"> losses for direct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 xml:space="preserve">   </a:t>
            </a:r>
            <a:r>
              <a:rPr kumimoji="0" lang="en-US" altLang="en-US" sz="1800" b="0" i="0" u="none" strike="noStrike" cap="none" normalizeH="0" baseline="0" dirty="0">
                <a:ln>
                  <a:noFill/>
                </a:ln>
                <a:solidFill>
                  <a:schemeClr val="tx1"/>
                </a:solidFill>
                <a:effectLst/>
                <a:latin typeface="Arial" panose="020B0604020202020204" pitchFamily="34" charset="0"/>
              </a:rPr>
              <a:t xml:space="preserve">optimization of gene ranking quality, not just classification accuracy. </a:t>
            </a:r>
          </a:p>
        </p:txBody>
      </p:sp>
    </p:spTree>
    <p:extLst>
      <p:ext uri="{BB962C8B-B14F-4D97-AF65-F5344CB8AC3E}">
        <p14:creationId xmlns:p14="http://schemas.microsoft.com/office/powerpoint/2010/main" val="3769604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1EBD5E2B-31AB-285D-59FD-8AF47E8253F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841149D-CA01-7694-0ED1-8AF5F89F9D5B}"/>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 xml:space="preserve">Dataset </a:t>
            </a:r>
            <a:endParaRPr lang="en-US" dirty="0"/>
          </a:p>
        </p:txBody>
      </p:sp>
      <p:cxnSp>
        <p:nvCxnSpPr>
          <p:cNvPr id="122" name="Google Shape;122;p15">
            <a:extLst>
              <a:ext uri="{FF2B5EF4-FFF2-40B4-BE49-F238E27FC236}">
                <a16:creationId xmlns:a16="http://schemas.microsoft.com/office/drawing/2014/main" id="{EC132577-F367-5E68-494E-E1F57E51F6BC}"/>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E51C3423-59C3-01C0-B8BE-C25514430C42}"/>
              </a:ext>
            </a:extLst>
          </p:cNvPr>
          <p:cNvSpPr txBox="1">
            <a:spLocks noGrp="1"/>
          </p:cNvSpPr>
          <p:nvPr>
            <p:ph type="body" idx="1"/>
          </p:nvPr>
        </p:nvSpPr>
        <p:spPr>
          <a:xfrm>
            <a:off x="326971" y="2052970"/>
            <a:ext cx="10823529" cy="1592904"/>
          </a:xfrm>
          <a:prstGeom prst="rect">
            <a:avLst/>
          </a:prstGeom>
          <a:noFill/>
          <a:ln>
            <a:noFill/>
          </a:ln>
        </p:spPr>
        <p:txBody>
          <a:bodyPr spcFirstLastPara="1" wrap="square" lIns="91425" tIns="45700" rIns="91425" bIns="45700" anchor="t" anchorCtr="0">
            <a:normAutofit/>
          </a:bodyPr>
          <a:lstStyle/>
          <a:p>
            <a:pPr lvl="1"/>
            <a:r>
              <a:rPr lang="en-IN" sz="1700" b="1" dirty="0"/>
              <a:t>STRING v12</a:t>
            </a:r>
            <a:r>
              <a:rPr lang="en-IN" sz="1700" dirty="0"/>
              <a:t xml:space="preserve"> (PPI network ) </a:t>
            </a:r>
            <a:r>
              <a:rPr lang="en-US" sz="1700" dirty="0"/>
              <a:t xml:space="preserve">→ </a:t>
            </a:r>
            <a:r>
              <a:rPr lang="en-IN" sz="1700" dirty="0"/>
              <a:t xml:space="preserve">Human protein–protein interactions (score ≥ 9606) </a:t>
            </a:r>
          </a:p>
          <a:p>
            <a:pPr lvl="1"/>
            <a:r>
              <a:rPr lang="en-IN" sz="1700" b="1" dirty="0" err="1"/>
              <a:t>BioGRID</a:t>
            </a:r>
            <a:r>
              <a:rPr lang="en-IN" sz="1700" b="1" dirty="0"/>
              <a:t xml:space="preserve"> 4.4.224</a:t>
            </a:r>
            <a:r>
              <a:rPr lang="en-IN" sz="1700" dirty="0"/>
              <a:t xml:space="preserve"> (PPI network ) </a:t>
            </a:r>
            <a:r>
              <a:rPr lang="en-US" sz="1700" dirty="0"/>
              <a:t>→</a:t>
            </a:r>
            <a:r>
              <a:rPr lang="en-IN" sz="1700" dirty="0"/>
              <a:t xml:space="preserve"> Experimentally validated interactions </a:t>
            </a:r>
          </a:p>
          <a:p>
            <a:pPr lvl="1"/>
            <a:r>
              <a:rPr lang="en-IN" sz="1700" b="1" dirty="0" err="1"/>
              <a:t>DisGeNET</a:t>
            </a:r>
            <a:r>
              <a:rPr lang="en-IN" sz="1700" dirty="0"/>
              <a:t xml:space="preserve"> (Gene–disease) </a:t>
            </a:r>
            <a:r>
              <a:rPr lang="en-US" sz="1700" dirty="0"/>
              <a:t xml:space="preserve">→ </a:t>
            </a:r>
            <a:r>
              <a:rPr lang="en-IN" sz="1700" dirty="0"/>
              <a:t xml:space="preserve">Curated gene–disease associations </a:t>
            </a:r>
          </a:p>
          <a:p>
            <a:pPr lvl="1"/>
            <a:r>
              <a:rPr lang="en-IN" sz="1700" b="1" dirty="0"/>
              <a:t>HPO (Human Phenotype Ontology)</a:t>
            </a:r>
            <a:r>
              <a:rPr lang="en-IN" sz="1700" dirty="0"/>
              <a:t xml:space="preserve"> (Phenotype) </a:t>
            </a:r>
            <a:r>
              <a:rPr lang="en-US" sz="1700" dirty="0"/>
              <a:t xml:space="preserve">→ </a:t>
            </a:r>
            <a:r>
              <a:rPr lang="en-IN" sz="1700" dirty="0"/>
              <a:t xml:space="preserve">Gene–phenotype mappings, disease ontology </a:t>
            </a:r>
          </a:p>
          <a:p>
            <a:pPr lvl="1"/>
            <a:r>
              <a:rPr lang="en-IN" sz="1700" b="1" dirty="0" err="1"/>
              <a:t>Orphanet</a:t>
            </a:r>
            <a:r>
              <a:rPr lang="en-IN" sz="1700" dirty="0"/>
              <a:t xml:space="preserve"> (Rare disease ) </a:t>
            </a:r>
            <a:r>
              <a:rPr lang="en-US" sz="1700" dirty="0"/>
              <a:t>→</a:t>
            </a:r>
            <a:r>
              <a:rPr lang="en-IN" sz="1700" dirty="0"/>
              <a:t xml:space="preserve"> Rare disease gene associations </a:t>
            </a:r>
          </a:p>
          <a:p>
            <a:pPr marL="114300" lvl="0" indent="0" algn="just" rtl="0">
              <a:lnSpc>
                <a:spcPct val="90000"/>
              </a:lnSpc>
              <a:spcBef>
                <a:spcPts val="1000"/>
              </a:spcBef>
              <a:spcAft>
                <a:spcPts val="0"/>
              </a:spcAft>
              <a:buSzPts val="1800"/>
              <a:buNone/>
            </a:pPr>
            <a:endParaRPr sz="1800" dirty="0"/>
          </a:p>
        </p:txBody>
      </p:sp>
      <p:pic>
        <p:nvPicPr>
          <p:cNvPr id="125" name="Google Shape;125;p15">
            <a:extLst>
              <a:ext uri="{FF2B5EF4-FFF2-40B4-BE49-F238E27FC236}">
                <a16:creationId xmlns:a16="http://schemas.microsoft.com/office/drawing/2014/main" id="{ABD54E8C-B914-65D2-4528-C3DF11289B59}"/>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0A6A7E23-6CD4-665D-4092-1AB39D7980CA}"/>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
        <p:nvSpPr>
          <p:cNvPr id="17" name="TextBox 16">
            <a:extLst>
              <a:ext uri="{FF2B5EF4-FFF2-40B4-BE49-F238E27FC236}">
                <a16:creationId xmlns:a16="http://schemas.microsoft.com/office/drawing/2014/main" id="{52638755-6E0B-EF66-6573-87E1A9BD6BD4}"/>
              </a:ext>
            </a:extLst>
          </p:cNvPr>
          <p:cNvSpPr txBox="1"/>
          <p:nvPr/>
        </p:nvSpPr>
        <p:spPr>
          <a:xfrm>
            <a:off x="393110" y="1549728"/>
            <a:ext cx="3369997" cy="738664"/>
          </a:xfrm>
          <a:prstGeom prst="rect">
            <a:avLst/>
          </a:prstGeom>
          <a:noFill/>
        </p:spPr>
        <p:txBody>
          <a:bodyPr wrap="square" rtlCol="0">
            <a:spAutoFit/>
          </a:bodyPr>
          <a:lstStyle/>
          <a:p>
            <a:r>
              <a:rPr lang="en-IN" sz="2800" b="1" dirty="0"/>
              <a:t>Data Sources</a:t>
            </a:r>
          </a:p>
          <a:p>
            <a:endParaRPr lang="en-IN" dirty="0"/>
          </a:p>
        </p:txBody>
      </p:sp>
      <p:sp>
        <p:nvSpPr>
          <p:cNvPr id="18" name="Google Shape;124;p15">
            <a:extLst>
              <a:ext uri="{FF2B5EF4-FFF2-40B4-BE49-F238E27FC236}">
                <a16:creationId xmlns:a16="http://schemas.microsoft.com/office/drawing/2014/main" id="{8C103276-5018-F33D-5FDA-7D224A0A2BBA}"/>
              </a:ext>
            </a:extLst>
          </p:cNvPr>
          <p:cNvSpPr txBox="1">
            <a:spLocks/>
          </p:cNvSpPr>
          <p:nvPr/>
        </p:nvSpPr>
        <p:spPr>
          <a:xfrm>
            <a:off x="780057" y="4513495"/>
            <a:ext cx="10823529" cy="159290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spcBef>
                <a:spcPts val="0"/>
              </a:spcBef>
            </a:pPr>
            <a:r>
              <a:rPr lang="en-IN" sz="1800" b="1" dirty="0"/>
              <a:t>Gene nodes</a:t>
            </a:r>
            <a:r>
              <a:rPr lang="en-IN" sz="1800" dirty="0"/>
              <a:t>: 19,576</a:t>
            </a:r>
          </a:p>
          <a:p>
            <a:pPr algn="just">
              <a:spcBef>
                <a:spcPts val="0"/>
              </a:spcBef>
            </a:pPr>
            <a:r>
              <a:rPr lang="en-IN" sz="1800" b="1" dirty="0"/>
              <a:t>Disease nodes</a:t>
            </a:r>
            <a:r>
              <a:rPr lang="en-IN" sz="1800" dirty="0"/>
              <a:t>: 16,841</a:t>
            </a:r>
          </a:p>
          <a:p>
            <a:pPr algn="just">
              <a:spcBef>
                <a:spcPts val="0"/>
              </a:spcBef>
            </a:pPr>
            <a:r>
              <a:rPr lang="en-IN" sz="1800" b="1" dirty="0"/>
              <a:t>Phenotype nodes</a:t>
            </a:r>
            <a:r>
              <a:rPr lang="en-IN" sz="1800" dirty="0"/>
              <a:t>: 11,794</a:t>
            </a:r>
          </a:p>
          <a:p>
            <a:pPr algn="just">
              <a:spcBef>
                <a:spcPts val="0"/>
              </a:spcBef>
            </a:pPr>
            <a:r>
              <a:rPr lang="en-IN" sz="1800" b="1" dirty="0"/>
              <a:t>Gene ↔ Gene edges</a:t>
            </a:r>
            <a:r>
              <a:rPr lang="en-IN" sz="1800" dirty="0"/>
              <a:t xml:space="preserve"> (STRING PPI ≥ 700): 1,854,012</a:t>
            </a:r>
          </a:p>
          <a:p>
            <a:pPr algn="just">
              <a:spcBef>
                <a:spcPts val="0"/>
              </a:spcBef>
            </a:pPr>
            <a:r>
              <a:rPr lang="en-IN" sz="1800" b="1" dirty="0"/>
              <a:t>Gene → Disease edges</a:t>
            </a:r>
            <a:r>
              <a:rPr lang="en-IN" sz="1800" dirty="0"/>
              <a:t>: 9,741,610</a:t>
            </a:r>
          </a:p>
          <a:p>
            <a:pPr algn="just">
              <a:spcBef>
                <a:spcPts val="0"/>
              </a:spcBef>
            </a:pPr>
            <a:r>
              <a:rPr lang="en-IN" sz="1800" b="1" dirty="0"/>
              <a:t xml:space="preserve">Disease → Gene edges </a:t>
            </a:r>
            <a:r>
              <a:rPr lang="en-IN" sz="1800" dirty="0"/>
              <a:t>(reverse): 9,741,610</a:t>
            </a:r>
          </a:p>
        </p:txBody>
      </p:sp>
      <p:sp>
        <p:nvSpPr>
          <p:cNvPr id="19" name="TextBox 18">
            <a:extLst>
              <a:ext uri="{FF2B5EF4-FFF2-40B4-BE49-F238E27FC236}">
                <a16:creationId xmlns:a16="http://schemas.microsoft.com/office/drawing/2014/main" id="{C1DBCF55-EBEF-311E-D624-F134292CB666}"/>
              </a:ext>
            </a:extLst>
          </p:cNvPr>
          <p:cNvSpPr txBox="1"/>
          <p:nvPr/>
        </p:nvSpPr>
        <p:spPr>
          <a:xfrm>
            <a:off x="434226" y="3966838"/>
            <a:ext cx="3369997" cy="523220"/>
          </a:xfrm>
          <a:prstGeom prst="rect">
            <a:avLst/>
          </a:prstGeom>
          <a:noFill/>
        </p:spPr>
        <p:txBody>
          <a:bodyPr wrap="square" rtlCol="0">
            <a:spAutoFit/>
          </a:bodyPr>
          <a:lstStyle/>
          <a:p>
            <a:r>
              <a:rPr lang="en-IN" sz="2800" b="1" dirty="0"/>
              <a:t>Graph Statistics</a:t>
            </a:r>
            <a:endParaRPr lang="en-IN" b="1" dirty="0"/>
          </a:p>
        </p:txBody>
      </p:sp>
    </p:spTree>
    <p:extLst>
      <p:ext uri="{BB962C8B-B14F-4D97-AF65-F5344CB8AC3E}">
        <p14:creationId xmlns:p14="http://schemas.microsoft.com/office/powerpoint/2010/main" val="118786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4285A0E9-042A-2FD9-DD84-35FD41829F7D}"/>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47B160C-30A7-C39A-57D8-78313A367B4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 xml:space="preserve">Architecture </a:t>
            </a:r>
            <a:endParaRPr lang="en-US" dirty="0"/>
          </a:p>
        </p:txBody>
      </p:sp>
      <p:cxnSp>
        <p:nvCxnSpPr>
          <p:cNvPr id="122" name="Google Shape;122;p15">
            <a:extLst>
              <a:ext uri="{FF2B5EF4-FFF2-40B4-BE49-F238E27FC236}">
                <a16:creationId xmlns:a16="http://schemas.microsoft.com/office/drawing/2014/main" id="{64654DFB-BF9D-D16A-7F8D-304497E283A2}"/>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73105714-41F7-F805-DACF-E8987A6EB059}"/>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BDFF440C-590F-6843-CB55-5B5C5C7B304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pic>
        <p:nvPicPr>
          <p:cNvPr id="6" name="Graphic 5">
            <a:extLst>
              <a:ext uri="{FF2B5EF4-FFF2-40B4-BE49-F238E27FC236}">
                <a16:creationId xmlns:a16="http://schemas.microsoft.com/office/drawing/2014/main" id="{7CEC1AB1-3EFB-2BAA-B7A0-BA6D040728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24555" y="1424131"/>
            <a:ext cx="6541476" cy="5387098"/>
          </a:xfrm>
          <a:prstGeom prst="rect">
            <a:avLst/>
          </a:prstGeom>
        </p:spPr>
      </p:pic>
    </p:spTree>
    <p:extLst>
      <p:ext uri="{BB962C8B-B14F-4D97-AF65-F5344CB8AC3E}">
        <p14:creationId xmlns:p14="http://schemas.microsoft.com/office/powerpoint/2010/main" val="1919831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CE5F44B0-2EA9-165B-36EF-7655B882B77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E9C0785-3E46-C091-BD34-B8618D303C50}"/>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Ablation Study: Zero-Shot Rare Disease Results (117 diseases, 3 seeds)</a:t>
            </a:r>
            <a:endParaRPr lang="en-US" dirty="0"/>
          </a:p>
        </p:txBody>
      </p:sp>
      <p:cxnSp>
        <p:nvCxnSpPr>
          <p:cNvPr id="122" name="Google Shape;122;p15">
            <a:extLst>
              <a:ext uri="{FF2B5EF4-FFF2-40B4-BE49-F238E27FC236}">
                <a16:creationId xmlns:a16="http://schemas.microsoft.com/office/drawing/2014/main" id="{E35E286E-305B-CD2E-4124-6D32861F18C8}"/>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pic>
        <p:nvPicPr>
          <p:cNvPr id="125" name="Google Shape;125;p15">
            <a:extLst>
              <a:ext uri="{FF2B5EF4-FFF2-40B4-BE49-F238E27FC236}">
                <a16:creationId xmlns:a16="http://schemas.microsoft.com/office/drawing/2014/main" id="{FE9D8879-16A4-E6F4-14B9-0A5D02D1DEB1}"/>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06E720C1-373C-BDF9-981D-36FB9DF1E591}"/>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graphicFrame>
        <p:nvGraphicFramePr>
          <p:cNvPr id="2" name="Table 1">
            <a:extLst>
              <a:ext uri="{FF2B5EF4-FFF2-40B4-BE49-F238E27FC236}">
                <a16:creationId xmlns:a16="http://schemas.microsoft.com/office/drawing/2014/main" id="{EFCC5675-94E8-5F1D-3380-B5B73DC70908}"/>
              </a:ext>
            </a:extLst>
          </p:cNvPr>
          <p:cNvGraphicFramePr>
            <a:graphicFrameLocks noGrp="1"/>
          </p:cNvGraphicFramePr>
          <p:nvPr>
            <p:extLst>
              <p:ext uri="{D42A27DB-BD31-4B8C-83A1-F6EECF244321}">
                <p14:modId xmlns:p14="http://schemas.microsoft.com/office/powerpoint/2010/main" val="3970194649"/>
              </p:ext>
            </p:extLst>
          </p:nvPr>
        </p:nvGraphicFramePr>
        <p:xfrm>
          <a:off x="580293" y="1839880"/>
          <a:ext cx="10451120" cy="4351339"/>
        </p:xfrm>
        <a:graphic>
          <a:graphicData uri="http://schemas.openxmlformats.org/drawingml/2006/table">
            <a:tbl>
              <a:tblPr/>
              <a:tblGrid>
                <a:gridCol w="1493017">
                  <a:extLst>
                    <a:ext uri="{9D8B030D-6E8A-4147-A177-3AD203B41FA5}">
                      <a16:colId xmlns:a16="http://schemas.microsoft.com/office/drawing/2014/main" val="2073070793"/>
                    </a:ext>
                  </a:extLst>
                </a:gridCol>
                <a:gridCol w="1396721">
                  <a:extLst>
                    <a:ext uri="{9D8B030D-6E8A-4147-A177-3AD203B41FA5}">
                      <a16:colId xmlns:a16="http://schemas.microsoft.com/office/drawing/2014/main" val="752407361"/>
                    </a:ext>
                  </a:extLst>
                </a:gridCol>
                <a:gridCol w="1430215">
                  <a:extLst>
                    <a:ext uri="{9D8B030D-6E8A-4147-A177-3AD203B41FA5}">
                      <a16:colId xmlns:a16="http://schemas.microsoft.com/office/drawing/2014/main" val="3600104981"/>
                    </a:ext>
                  </a:extLst>
                </a:gridCol>
                <a:gridCol w="1500554">
                  <a:extLst>
                    <a:ext uri="{9D8B030D-6E8A-4147-A177-3AD203B41FA5}">
                      <a16:colId xmlns:a16="http://schemas.microsoft.com/office/drawing/2014/main" val="3976998340"/>
                    </a:ext>
                  </a:extLst>
                </a:gridCol>
                <a:gridCol w="1365738">
                  <a:extLst>
                    <a:ext uri="{9D8B030D-6E8A-4147-A177-3AD203B41FA5}">
                      <a16:colId xmlns:a16="http://schemas.microsoft.com/office/drawing/2014/main" val="363654537"/>
                    </a:ext>
                  </a:extLst>
                </a:gridCol>
                <a:gridCol w="1125416">
                  <a:extLst>
                    <a:ext uri="{9D8B030D-6E8A-4147-A177-3AD203B41FA5}">
                      <a16:colId xmlns:a16="http://schemas.microsoft.com/office/drawing/2014/main" val="3333442887"/>
                    </a:ext>
                  </a:extLst>
                </a:gridCol>
                <a:gridCol w="2139459">
                  <a:extLst>
                    <a:ext uri="{9D8B030D-6E8A-4147-A177-3AD203B41FA5}">
                      <a16:colId xmlns:a16="http://schemas.microsoft.com/office/drawing/2014/main" val="2724720115"/>
                    </a:ext>
                  </a:extLst>
                </a:gridCol>
              </a:tblGrid>
              <a:tr h="328768">
                <a:tc>
                  <a:txBody>
                    <a:bodyPr/>
                    <a:lstStyle/>
                    <a:p>
                      <a:pPr algn="ctr">
                        <a:buNone/>
                      </a:pPr>
                      <a:r>
                        <a:rPr lang="en-IN" sz="1200" b="1" dirty="0"/>
                        <a:t>Variant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err="1"/>
                        <a:t>use_gnn</a:t>
                      </a:r>
                      <a:endParaRPr lang="en-IN" sz="1200" b="1" dirty="0"/>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err="1"/>
                        <a:t>use_conditioning</a:t>
                      </a:r>
                      <a:endParaRPr lang="en-IN" sz="1200" b="1" dirty="0"/>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AUROC</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Hit@50</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MRR</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200" b="1" dirty="0"/>
                        <a:t>Description</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4023376"/>
                  </a:ext>
                </a:extLst>
              </a:tr>
              <a:tr h="1005643">
                <a:tc>
                  <a:txBody>
                    <a:bodyPr/>
                    <a:lstStyle/>
                    <a:p>
                      <a:pPr algn="ctr">
                        <a:lnSpc>
                          <a:spcPct val="150000"/>
                        </a:lnSpc>
                        <a:buNone/>
                      </a:pPr>
                      <a:r>
                        <a:rPr lang="en-IN" sz="1050" b="1" dirty="0"/>
                        <a:t>MLP only</a:t>
                      </a:r>
                    </a:p>
                    <a:p>
                      <a:pPr algn="ctr">
                        <a:lnSpc>
                          <a:spcPct val="150000"/>
                        </a:lnSpc>
                        <a:buNone/>
                      </a:pPr>
                      <a:r>
                        <a:rPr lang="en-IN" sz="1050" b="1" dirty="0"/>
                        <a:t>(Baseline)</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n-IN" sz="900" dirty="0"/>
                        <a:t>0.916 ± 0.007</a:t>
                      </a:r>
                    </a:p>
                    <a:p>
                      <a:pPr algn="ctr">
                        <a:buNone/>
                      </a:pPr>
                      <a:r>
                        <a:rPr lang="en-IN" sz="900" dirty="0"/>
                        <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0.168 ± 0.030</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0.026 ± 0.008</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dirty="0"/>
                        <a:t>Raw node embeddings → MLP predictor. No message passing, no prompt conditioning.</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8825100"/>
                  </a:ext>
                </a:extLst>
              </a:tr>
              <a:tr h="1005643">
                <a:tc>
                  <a:txBody>
                    <a:bodyPr/>
                    <a:lstStyle/>
                    <a:p>
                      <a:pPr algn="ctr">
                        <a:buNone/>
                      </a:pPr>
                      <a:r>
                        <a:rPr lang="en-IN" sz="1050" b="1" dirty="0"/>
                        <a:t>Prompt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0.926 ± 0.001</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0.185 ± 0.022</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0.042 ± 0.017</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dirty="0" err="1"/>
                        <a:t>FiLM</a:t>
                      </a:r>
                      <a:r>
                        <a:rPr lang="en-US" sz="900" dirty="0"/>
                        <a:t xml:space="preserve"> conditioning active, but no PPI edges. Prompt signal enters at prediction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6983674"/>
                  </a:ext>
                </a:extLst>
              </a:tr>
              <a:tr h="1141017">
                <a:tc>
                  <a:txBody>
                    <a:bodyPr/>
                    <a:lstStyle/>
                    <a:p>
                      <a:pPr algn="ctr">
                        <a:buNone/>
                      </a:pPr>
                      <a:r>
                        <a:rPr lang="en-IN" sz="1050" b="1" dirty="0"/>
                        <a:t>GNN only</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0.925 ± 0.000</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0.174 ± 0.005</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900" dirty="0"/>
                        <a:t>0.035 ± 0.020</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900"/>
                        <a:t>PPI message passing active, no FiLM (γ=1, β=0). GraphSAGE without language guidance.</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7644912"/>
                  </a:ext>
                </a:extLst>
              </a:tr>
              <a:tr h="870268">
                <a:tc>
                  <a:txBody>
                    <a:bodyPr/>
                    <a:lstStyle/>
                    <a:p>
                      <a:pPr algn="ctr">
                        <a:buNone/>
                      </a:pPr>
                      <a:r>
                        <a:rPr lang="en-IN" sz="1050" b="1" dirty="0"/>
                        <a:t xml:space="preserve">Full </a:t>
                      </a:r>
                      <a:r>
                        <a:rPr lang="en-IN" sz="1050" b="1" dirty="0" err="1"/>
                        <a:t>PromptGFM</a:t>
                      </a:r>
                      <a:r>
                        <a:rPr lang="en-IN" sz="1050" b="1" dirty="0"/>
                        <a:t>-Bio</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0.941 ± 0.006</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0.219 ± 0.018</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IN" sz="900" dirty="0"/>
                        <a:t>0.047 ± 0.012</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900" dirty="0"/>
                        <a:t>Full model with prompt-conditioned message passing over PPI graph.</a:t>
                      </a:r>
                    </a:p>
                  </a:txBody>
                  <a:tcPr marL="58018" marR="58018" marT="29009" marB="2900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61070355"/>
                  </a:ext>
                </a:extLst>
              </a:tr>
            </a:tbl>
          </a:graphicData>
        </a:graphic>
      </p:graphicFrame>
    </p:spTree>
    <p:extLst>
      <p:ext uri="{BB962C8B-B14F-4D97-AF65-F5344CB8AC3E}">
        <p14:creationId xmlns:p14="http://schemas.microsoft.com/office/powerpoint/2010/main" val="193674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6808AB0-AE8B-804E-8F2E-13D08614A79D}"/>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458BD6E1-7D71-1A1C-2901-C771CA86091C}"/>
              </a:ext>
            </a:extLst>
          </p:cNvPr>
          <p:cNvSpPr/>
          <p:nvPr/>
        </p:nvSpPr>
        <p:spPr>
          <a:xfrm>
            <a:off x="434226" y="747162"/>
            <a:ext cx="7999758" cy="461624"/>
          </a:xfrm>
          <a:prstGeom prst="rect">
            <a:avLst/>
          </a:prstGeom>
          <a:noFill/>
          <a:ln>
            <a:noFill/>
          </a:ln>
        </p:spPr>
        <p:txBody>
          <a:bodyPr spcFirstLastPara="1" wrap="square" lIns="91425" tIns="45700" rIns="91425" bIns="45700" anchor="t" anchorCtr="0">
            <a:noAutofit/>
          </a:bodyPr>
          <a:lstStyle/>
          <a:p>
            <a:pPr lvl="0">
              <a:buSzPts val="2400"/>
            </a:pPr>
            <a:r>
              <a:rPr lang="en-US" sz="2400" b="1" dirty="0">
                <a:solidFill>
                  <a:schemeClr val="accent2"/>
                </a:solidFill>
                <a:latin typeface="Calibri"/>
                <a:ea typeface="Calibri"/>
                <a:cs typeface="Calibri"/>
                <a:sym typeface="Calibri"/>
              </a:rPr>
              <a:t>Project Progress So far</a:t>
            </a:r>
            <a:endParaRPr lang="en-US" dirty="0"/>
          </a:p>
        </p:txBody>
      </p:sp>
      <p:cxnSp>
        <p:nvCxnSpPr>
          <p:cNvPr id="122" name="Google Shape;122;p15">
            <a:extLst>
              <a:ext uri="{FF2B5EF4-FFF2-40B4-BE49-F238E27FC236}">
                <a16:creationId xmlns:a16="http://schemas.microsoft.com/office/drawing/2014/main" id="{09CF2589-758C-7107-D7D7-9018A2333054}"/>
              </a:ext>
            </a:extLst>
          </p:cNvPr>
          <p:cNvCxnSpPr/>
          <p:nvPr/>
        </p:nvCxnSpPr>
        <p:spPr>
          <a:xfrm>
            <a:off x="-8308" y="1316458"/>
            <a:ext cx="8300052" cy="0"/>
          </a:xfrm>
          <a:prstGeom prst="straightConnector1">
            <a:avLst/>
          </a:prstGeom>
          <a:noFill/>
          <a:ln w="38100" cap="flat" cmpd="sng">
            <a:solidFill>
              <a:srgbClr val="C55A11"/>
            </a:solidFill>
            <a:prstDash val="solid"/>
            <a:miter lim="800000"/>
            <a:headEnd type="none" w="sm" len="sm"/>
            <a:tailEnd type="none" w="sm" len="sm"/>
          </a:ln>
        </p:spPr>
      </p:cxnSp>
      <p:sp>
        <p:nvSpPr>
          <p:cNvPr id="124" name="Google Shape;124;p15">
            <a:extLst>
              <a:ext uri="{FF2B5EF4-FFF2-40B4-BE49-F238E27FC236}">
                <a16:creationId xmlns:a16="http://schemas.microsoft.com/office/drawing/2014/main" id="{4436CED0-76EC-210F-ADA0-7AFCC94F8F60}"/>
              </a:ext>
            </a:extLst>
          </p:cNvPr>
          <p:cNvSpPr txBox="1">
            <a:spLocks noGrp="1"/>
          </p:cNvSpPr>
          <p:nvPr>
            <p:ph type="body" idx="1"/>
          </p:nvPr>
        </p:nvSpPr>
        <p:spPr>
          <a:xfrm>
            <a:off x="621516" y="1326716"/>
            <a:ext cx="11136258" cy="5363715"/>
          </a:xfrm>
          <a:prstGeom prst="rect">
            <a:avLst/>
          </a:prstGeom>
          <a:noFill/>
          <a:ln>
            <a:noFill/>
          </a:ln>
        </p:spPr>
        <p:txBody>
          <a:bodyPr spcFirstLastPara="1" wrap="square" lIns="91425" tIns="45700" rIns="91425" bIns="45700" anchor="t" anchorCtr="0">
            <a:normAutofit fontScale="55000" lnSpcReduction="20000"/>
          </a:bodyPr>
          <a:lstStyle/>
          <a:p>
            <a:r>
              <a:rPr lang="en-IN" sz="2900" b="1" dirty="0"/>
              <a:t>Constructed large-scale biomedical knowledge graph</a:t>
            </a:r>
            <a:r>
              <a:rPr lang="en-IN" sz="2900" dirty="0"/>
              <a:t xml:space="preserve"> </a:t>
            </a:r>
          </a:p>
          <a:p>
            <a:pPr marL="571500" lvl="1" indent="0">
              <a:spcAft>
                <a:spcPts val="600"/>
              </a:spcAft>
              <a:buNone/>
            </a:pPr>
            <a:r>
              <a:rPr lang="en-US" sz="2900" dirty="0"/>
              <a:t xml:space="preserve">• </a:t>
            </a:r>
            <a:r>
              <a:rPr lang="en-IN" sz="2900" dirty="0"/>
              <a:t xml:space="preserve">19,576 genes, 16,841 diseases, 1.85M+ PPI edges (STRING + </a:t>
            </a:r>
            <a:r>
              <a:rPr lang="en-IN" sz="2900" dirty="0" err="1"/>
              <a:t>BioGRID</a:t>
            </a:r>
            <a:r>
              <a:rPr lang="en-IN" sz="2900" dirty="0"/>
              <a:t xml:space="preserve">) </a:t>
            </a:r>
          </a:p>
          <a:p>
            <a:pPr>
              <a:spcAft>
                <a:spcPts val="600"/>
              </a:spcAft>
            </a:pPr>
            <a:r>
              <a:rPr lang="en-IN" sz="2900" b="1" dirty="0"/>
              <a:t>Integrated multi-source biological datasets</a:t>
            </a:r>
            <a:r>
              <a:rPr lang="en-IN" sz="2900" dirty="0"/>
              <a:t xml:space="preserve"> </a:t>
            </a:r>
          </a:p>
          <a:p>
            <a:pPr marL="571500" lvl="1" indent="0">
              <a:spcBef>
                <a:spcPts val="0"/>
              </a:spcBef>
              <a:spcAft>
                <a:spcPts val="600"/>
              </a:spcAft>
              <a:buNone/>
            </a:pPr>
            <a:r>
              <a:rPr lang="en-US" sz="2900" dirty="0"/>
              <a:t xml:space="preserve">• </a:t>
            </a:r>
            <a:r>
              <a:rPr lang="en-IN" sz="2900" dirty="0" err="1"/>
              <a:t>DisGeNET</a:t>
            </a:r>
            <a:r>
              <a:rPr lang="en-IN" sz="2900" dirty="0"/>
              <a:t xml:space="preserve">, HPO, </a:t>
            </a:r>
            <a:r>
              <a:rPr lang="en-IN" sz="2900" dirty="0" err="1"/>
              <a:t>Orphanet</a:t>
            </a:r>
            <a:r>
              <a:rPr lang="en-IN" sz="2900" dirty="0"/>
              <a:t xml:space="preserve"> → unified gene–disease supervision (~1.17M edges) </a:t>
            </a:r>
          </a:p>
          <a:p>
            <a:r>
              <a:rPr lang="en-IN" sz="2900" b="1" dirty="0"/>
              <a:t>Implemented prompt-conditioned GNN architecture (</a:t>
            </a:r>
            <a:r>
              <a:rPr lang="en-IN" sz="2900" b="1" dirty="0" err="1"/>
              <a:t>PromptGFM</a:t>
            </a:r>
            <a:r>
              <a:rPr lang="en-IN" sz="2900" b="1" dirty="0"/>
              <a:t>-Bio)</a:t>
            </a:r>
            <a:r>
              <a:rPr lang="en-IN" sz="2900" dirty="0"/>
              <a:t xml:space="preserve"> </a:t>
            </a:r>
          </a:p>
          <a:p>
            <a:pPr marL="571500" lvl="1" indent="0">
              <a:buNone/>
            </a:pPr>
            <a:r>
              <a:rPr lang="en-US" sz="2900" dirty="0"/>
              <a:t xml:space="preserve">• </a:t>
            </a:r>
            <a:r>
              <a:rPr lang="en-IN" sz="2900" dirty="0" err="1"/>
              <a:t>GraphSAGE</a:t>
            </a:r>
            <a:r>
              <a:rPr lang="en-IN" sz="2900" dirty="0"/>
              <a:t xml:space="preserve"> backbone + </a:t>
            </a:r>
            <a:r>
              <a:rPr lang="en-IN" sz="2900" dirty="0" err="1"/>
              <a:t>FiLM</a:t>
            </a:r>
            <a:r>
              <a:rPr lang="en-IN" sz="2900" dirty="0"/>
              <a:t xml:space="preserve"> conditioning </a:t>
            </a:r>
          </a:p>
          <a:p>
            <a:pPr marL="571500" lvl="1" indent="0">
              <a:spcBef>
                <a:spcPts val="0"/>
              </a:spcBef>
              <a:spcAft>
                <a:spcPts val="600"/>
              </a:spcAft>
              <a:buNone/>
            </a:pPr>
            <a:r>
              <a:rPr lang="en-US" sz="2900" dirty="0"/>
              <a:t xml:space="preserve">• </a:t>
            </a:r>
            <a:r>
              <a:rPr lang="en-IN" sz="2900" dirty="0"/>
              <a:t xml:space="preserve">Frozen </a:t>
            </a:r>
            <a:r>
              <a:rPr lang="en-IN" sz="2900" dirty="0" err="1"/>
              <a:t>PubMedBERT</a:t>
            </a:r>
            <a:r>
              <a:rPr lang="en-IN" sz="2900" dirty="0"/>
              <a:t xml:space="preserve"> for disease text embeddings </a:t>
            </a:r>
          </a:p>
          <a:p>
            <a:r>
              <a:rPr lang="en-IN" sz="2900" b="1" dirty="0"/>
              <a:t>Enabled disease-specific message passing</a:t>
            </a:r>
            <a:r>
              <a:rPr lang="en-IN" sz="2900" dirty="0"/>
              <a:t xml:space="preserve"> </a:t>
            </a:r>
          </a:p>
          <a:p>
            <a:pPr marL="571500" lvl="1" indent="0">
              <a:spcBef>
                <a:spcPts val="0"/>
              </a:spcBef>
              <a:spcAft>
                <a:spcPts val="600"/>
              </a:spcAft>
              <a:buNone/>
            </a:pPr>
            <a:r>
              <a:rPr lang="en-US" sz="2900" dirty="0"/>
              <a:t xml:space="preserve">• </a:t>
            </a:r>
            <a:r>
              <a:rPr lang="en-IN" sz="2900" dirty="0"/>
              <a:t xml:space="preserve">Same graph produces different gene embeddings per disease query </a:t>
            </a:r>
          </a:p>
          <a:p>
            <a:r>
              <a:rPr lang="en-IN" sz="2900" b="1" dirty="0"/>
              <a:t>Designed full-vocabulary evaluation protocol</a:t>
            </a:r>
            <a:r>
              <a:rPr lang="en-IN" sz="2900" dirty="0"/>
              <a:t xml:space="preserve"> </a:t>
            </a:r>
          </a:p>
          <a:p>
            <a:pPr marL="571500" lvl="1" indent="0">
              <a:spcBef>
                <a:spcPts val="0"/>
              </a:spcBef>
              <a:spcAft>
                <a:spcPts val="600"/>
              </a:spcAft>
              <a:buNone/>
            </a:pPr>
            <a:r>
              <a:rPr lang="en-US" sz="2900" dirty="0"/>
              <a:t xml:space="preserve">• </a:t>
            </a:r>
            <a:r>
              <a:rPr lang="en-IN" sz="2900" dirty="0"/>
              <a:t xml:space="preserve">Rank all ~19.5k genes per disease (realistic, publication-grade setup) </a:t>
            </a:r>
          </a:p>
          <a:p>
            <a:r>
              <a:rPr lang="en-IN" sz="2900" b="1" dirty="0"/>
              <a:t>Achieved strong performance on rare disease gene prioritization</a:t>
            </a:r>
            <a:r>
              <a:rPr lang="en-IN" sz="2900" dirty="0"/>
              <a:t xml:space="preserve"> </a:t>
            </a:r>
          </a:p>
          <a:p>
            <a:pPr marL="571500" lvl="1" indent="0">
              <a:spcBef>
                <a:spcPts val="0"/>
              </a:spcBef>
              <a:spcAft>
                <a:spcPts val="600"/>
              </a:spcAft>
              <a:buNone/>
            </a:pPr>
            <a:r>
              <a:rPr lang="en-US" sz="2900" dirty="0"/>
              <a:t xml:space="preserve">• </a:t>
            </a:r>
            <a:r>
              <a:rPr lang="en-IN" sz="2900" dirty="0"/>
              <a:t xml:space="preserve">AUROC: </a:t>
            </a:r>
            <a:r>
              <a:rPr lang="en-IN" sz="2900" b="1" dirty="0"/>
              <a:t>0.9606</a:t>
            </a:r>
            <a:r>
              <a:rPr lang="en-IN" sz="2900" dirty="0"/>
              <a:t xml:space="preserve">, Hit@50: </a:t>
            </a:r>
            <a:r>
              <a:rPr lang="en-IN" sz="2900" b="1" dirty="0"/>
              <a:t>54.9%</a:t>
            </a:r>
            <a:r>
              <a:rPr lang="en-IN" sz="2900" dirty="0"/>
              <a:t xml:space="preserve">, MRR: </a:t>
            </a:r>
            <a:r>
              <a:rPr lang="en-IN" sz="2900" b="1" dirty="0"/>
              <a:t>0.159</a:t>
            </a:r>
            <a:r>
              <a:rPr lang="en-IN" sz="2900" dirty="0"/>
              <a:t xml:space="preserve"> </a:t>
            </a:r>
          </a:p>
          <a:p>
            <a:r>
              <a:rPr lang="en-IN" sz="2900" b="1" dirty="0"/>
              <a:t>Built ablation framework (4 variants × 3 seeds)</a:t>
            </a:r>
            <a:r>
              <a:rPr lang="en-IN" sz="2900" dirty="0"/>
              <a:t xml:space="preserve"> </a:t>
            </a:r>
          </a:p>
          <a:p>
            <a:pPr marL="571500" lvl="1" indent="0">
              <a:spcBef>
                <a:spcPts val="0"/>
              </a:spcBef>
              <a:spcAft>
                <a:spcPts val="600"/>
              </a:spcAft>
              <a:buNone/>
            </a:pPr>
            <a:r>
              <a:rPr lang="en-US" sz="2900" dirty="0"/>
              <a:t xml:space="preserve">• </a:t>
            </a:r>
            <a:r>
              <a:rPr lang="en-IN" sz="2900" dirty="0"/>
              <a:t xml:space="preserve">Isolates contribution of GNN vs prompt conditioning </a:t>
            </a:r>
          </a:p>
          <a:p>
            <a:r>
              <a:rPr lang="en-IN" sz="2900" b="1" dirty="0"/>
              <a:t>Identified 117 zero-shot rare diseases</a:t>
            </a:r>
            <a:r>
              <a:rPr lang="en-IN" sz="2900" dirty="0"/>
              <a:t xml:space="preserve"> </a:t>
            </a:r>
          </a:p>
          <a:p>
            <a:pPr marL="571500" lvl="1" indent="0">
              <a:spcBef>
                <a:spcPts val="0"/>
              </a:spcBef>
              <a:spcAft>
                <a:spcPts val="600"/>
              </a:spcAft>
              <a:buNone/>
            </a:pPr>
            <a:r>
              <a:rPr lang="en-IN" sz="2900" dirty="0"/>
              <a:t xml:space="preserve"> </a:t>
            </a:r>
            <a:r>
              <a:rPr lang="en-US" sz="2900" dirty="0"/>
              <a:t xml:space="preserve">• </a:t>
            </a:r>
            <a:r>
              <a:rPr lang="en-IN" sz="2900" dirty="0"/>
              <a:t xml:space="preserve">Enables evaluation of generalization to unseen diseases </a:t>
            </a:r>
          </a:p>
          <a:p>
            <a:r>
              <a:rPr lang="en-IN" sz="2900" b="1" dirty="0"/>
              <a:t>Optimized training pipeline</a:t>
            </a:r>
            <a:r>
              <a:rPr lang="en-IN" sz="2900" dirty="0"/>
              <a:t xml:space="preserve"> </a:t>
            </a:r>
          </a:p>
          <a:p>
            <a:pPr marL="571500" lvl="1" indent="0">
              <a:buNone/>
            </a:pPr>
            <a:r>
              <a:rPr lang="en-US" sz="2900" dirty="0"/>
              <a:t xml:space="preserve">• </a:t>
            </a:r>
            <a:r>
              <a:rPr lang="en-IN" sz="2900" dirty="0"/>
              <a:t xml:space="preserve">Mixed precision (AMP), stable training, ~2.6h per full run on RTX 4090 </a:t>
            </a:r>
          </a:p>
          <a:p>
            <a:pPr marL="114300" lvl="0" indent="0" algn="just" rtl="0">
              <a:lnSpc>
                <a:spcPct val="90000"/>
              </a:lnSpc>
              <a:spcBef>
                <a:spcPts val="1000"/>
              </a:spcBef>
              <a:spcAft>
                <a:spcPts val="0"/>
              </a:spcAft>
              <a:buSzPts val="1800"/>
              <a:buNone/>
            </a:pPr>
            <a:endParaRPr dirty="0"/>
          </a:p>
        </p:txBody>
      </p:sp>
      <p:pic>
        <p:nvPicPr>
          <p:cNvPr id="125" name="Google Shape;125;p15">
            <a:extLst>
              <a:ext uri="{FF2B5EF4-FFF2-40B4-BE49-F238E27FC236}">
                <a16:creationId xmlns:a16="http://schemas.microsoft.com/office/drawing/2014/main" id="{4A47C9D5-81E3-9837-A35A-DAE71417D761}"/>
              </a:ext>
            </a:extLst>
          </p:cNvPr>
          <p:cNvPicPr preferRelativeResize="0"/>
          <p:nvPr/>
        </p:nvPicPr>
        <p:blipFill rotWithShape="1">
          <a:blip r:embed="rId3">
            <a:alphaModFix/>
          </a:blip>
          <a:srcRect/>
          <a:stretch/>
        </p:blipFill>
        <p:spPr>
          <a:xfrm>
            <a:off x="10974889" y="247724"/>
            <a:ext cx="782885" cy="1460500"/>
          </a:xfrm>
          <a:prstGeom prst="rect">
            <a:avLst/>
          </a:prstGeom>
          <a:noFill/>
          <a:ln>
            <a:noFill/>
          </a:ln>
        </p:spPr>
      </p:pic>
      <p:sp>
        <p:nvSpPr>
          <p:cNvPr id="3" name="Rectangle 2">
            <a:extLst>
              <a:ext uri="{FF2B5EF4-FFF2-40B4-BE49-F238E27FC236}">
                <a16:creationId xmlns:a16="http://schemas.microsoft.com/office/drawing/2014/main" id="{8746D8E1-E5ED-06FD-BFA5-7E0A30860A49}"/>
              </a:ext>
            </a:extLst>
          </p:cNvPr>
          <p:cNvSpPr/>
          <p:nvPr/>
        </p:nvSpPr>
        <p:spPr>
          <a:xfrm>
            <a:off x="326971" y="167566"/>
            <a:ext cx="7497214" cy="461665"/>
          </a:xfrm>
          <a:prstGeom prst="rect">
            <a:avLst/>
          </a:prstGeom>
        </p:spPr>
        <p:txBody>
          <a:bodyPr wrap="square">
            <a:spAutoFit/>
          </a:bodyPr>
          <a:lstStyle/>
          <a:p>
            <a:r>
              <a:rPr lang="en-IN" sz="2400" b="1" dirty="0">
                <a:solidFill>
                  <a:schemeClr val="accent1"/>
                </a:solidFill>
              </a:rPr>
              <a:t>Interdisciplinary Deep Learning on Graphs</a:t>
            </a:r>
          </a:p>
        </p:txBody>
      </p:sp>
    </p:spTree>
    <p:extLst>
      <p:ext uri="{BB962C8B-B14F-4D97-AF65-F5344CB8AC3E}">
        <p14:creationId xmlns:p14="http://schemas.microsoft.com/office/powerpoint/2010/main" val="862396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cxnSp>
        <p:nvCxnSpPr>
          <p:cNvPr id="350" name="Google Shape;350;p36"/>
          <p:cNvCxnSpPr/>
          <p:nvPr/>
        </p:nvCxnSpPr>
        <p:spPr>
          <a:xfrm>
            <a:off x="4696381" y="2807511"/>
            <a:ext cx="4581300" cy="0"/>
          </a:xfrm>
          <a:prstGeom prst="straightConnector1">
            <a:avLst/>
          </a:prstGeom>
          <a:noFill/>
          <a:ln w="38100" cap="flat" cmpd="sng">
            <a:solidFill>
              <a:srgbClr val="C55A11"/>
            </a:solidFill>
            <a:prstDash val="solid"/>
            <a:miter lim="800000"/>
            <a:headEnd type="none" w="sm" len="sm"/>
            <a:tailEnd type="none" w="sm" len="sm"/>
          </a:ln>
        </p:spPr>
      </p:cxnSp>
      <p:sp>
        <p:nvSpPr>
          <p:cNvPr id="351" name="Google Shape;351;p36"/>
          <p:cNvSpPr/>
          <p:nvPr/>
        </p:nvSpPr>
        <p:spPr>
          <a:xfrm>
            <a:off x="4563637" y="3913084"/>
            <a:ext cx="74973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bhaskarjyoti01@gmail.com</a:t>
            </a:r>
            <a:endParaRPr sz="2400" b="1" i="0" u="none" strike="noStrike" cap="none">
              <a:solidFill>
                <a:schemeClr val="dk1"/>
              </a:solidFill>
              <a:latin typeface="Calibri"/>
              <a:ea typeface="Calibri"/>
              <a:cs typeface="Calibri"/>
              <a:sym typeface="Calibri"/>
            </a:endParaRPr>
          </a:p>
        </p:txBody>
      </p:sp>
      <p:sp>
        <p:nvSpPr>
          <p:cNvPr id="352" name="Google Shape;352;p36"/>
          <p:cNvSpPr/>
          <p:nvPr/>
        </p:nvSpPr>
        <p:spPr>
          <a:xfrm>
            <a:off x="4563637" y="1916736"/>
            <a:ext cx="4603800" cy="66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55A1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
        <p:nvSpPr>
          <p:cNvPr id="353" name="Google Shape;353;p36"/>
          <p:cNvSpPr/>
          <p:nvPr/>
        </p:nvSpPr>
        <p:spPr>
          <a:xfrm>
            <a:off x="4563637" y="3033048"/>
            <a:ext cx="74973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Bhaskarjyoti Das</a:t>
            </a:r>
            <a:endParaRPr sz="2400" b="1" i="0" u="none" strike="noStrike" cap="none">
              <a:solidFill>
                <a:schemeClr val="dk1"/>
              </a:solidFill>
              <a:latin typeface="Calibri"/>
              <a:ea typeface="Calibri"/>
              <a:cs typeface="Calibri"/>
              <a:sym typeface="Calibri"/>
            </a:endParaRPr>
          </a:p>
        </p:txBody>
      </p:sp>
      <p:sp>
        <p:nvSpPr>
          <p:cNvPr id="354" name="Google Shape;354;p36"/>
          <p:cNvSpPr/>
          <p:nvPr/>
        </p:nvSpPr>
        <p:spPr>
          <a:xfrm>
            <a:off x="4563637" y="3473086"/>
            <a:ext cx="85431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chemeClr val="dk1"/>
                </a:solidFill>
                <a:latin typeface="Calibri"/>
                <a:ea typeface="Calibri"/>
                <a:cs typeface="Calibri"/>
                <a:sym typeface="Calibri"/>
              </a:rPr>
              <a:t>Department of Computer Science and Engineering in AI &amp; ML</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pic>
        <p:nvPicPr>
          <p:cNvPr id="355" name="Google Shape;355;p36"/>
          <p:cNvPicPr preferRelativeResize="0"/>
          <p:nvPr/>
        </p:nvPicPr>
        <p:blipFill rotWithShape="1">
          <a:blip r:embed="rId3">
            <a:alphaModFix/>
          </a:blip>
          <a:srcRect/>
          <a:stretch/>
        </p:blipFill>
        <p:spPr>
          <a:xfrm>
            <a:off x="1912638" y="1497243"/>
            <a:ext cx="2058881" cy="3812200"/>
          </a:xfrm>
          <a:prstGeom prst="rect">
            <a:avLst/>
          </a:prstGeom>
          <a:noFill/>
          <a:ln>
            <a:noFill/>
          </a:ln>
        </p:spPr>
      </p:pic>
      <p:grpSp>
        <p:nvGrpSpPr>
          <p:cNvPr id="356" name="Google Shape;356;p36"/>
          <p:cNvGrpSpPr/>
          <p:nvPr/>
        </p:nvGrpSpPr>
        <p:grpSpPr>
          <a:xfrm>
            <a:off x="313939" y="5489794"/>
            <a:ext cx="1066800" cy="1077941"/>
            <a:chOff x="313939" y="5489794"/>
            <a:chExt cx="1066800" cy="1077941"/>
          </a:xfrm>
        </p:grpSpPr>
        <p:sp>
          <p:nvSpPr>
            <p:cNvPr id="357" name="Google Shape;357;p36"/>
            <p:cNvSpPr/>
            <p:nvPr/>
          </p:nvSpPr>
          <p:spPr>
            <a:xfrm rot="5400000">
              <a:off x="824539" y="6011535"/>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 name="Google Shape;358;p36"/>
            <p:cNvSpPr/>
            <p:nvPr/>
          </p:nvSpPr>
          <p:spPr>
            <a:xfrm rot="10800000">
              <a:off x="313963" y="5489794"/>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359" name="Google Shape;359;p36"/>
          <p:cNvGrpSpPr/>
          <p:nvPr/>
        </p:nvGrpSpPr>
        <p:grpSpPr>
          <a:xfrm rot="10800000">
            <a:off x="10855702" y="266187"/>
            <a:ext cx="1066800" cy="1077941"/>
            <a:chOff x="313939" y="5489794"/>
            <a:chExt cx="1066800" cy="1077941"/>
          </a:xfrm>
        </p:grpSpPr>
        <p:sp>
          <p:nvSpPr>
            <p:cNvPr id="360" name="Google Shape;360;p36"/>
            <p:cNvSpPr/>
            <p:nvPr/>
          </p:nvSpPr>
          <p:spPr>
            <a:xfrm rot="5400000">
              <a:off x="824539" y="6011535"/>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 name="Google Shape;361;p36"/>
            <p:cNvSpPr/>
            <p:nvPr/>
          </p:nvSpPr>
          <p:spPr>
            <a:xfrm rot="10800000">
              <a:off x="313963" y="5489794"/>
              <a:ext cx="45600" cy="106680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1029</Words>
  <Application>Microsoft Office PowerPoint</Application>
  <PresentationFormat>Widescreen</PresentationFormat>
  <Paragraphs>127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Falcon King</dc:creator>
  <cp:lastModifiedBy>Falcon King</cp:lastModifiedBy>
  <cp:revision>74</cp:revision>
  <dcterms:modified xsi:type="dcterms:W3CDTF">2026-04-07T04:33:29Z</dcterms:modified>
</cp:coreProperties>
</file>