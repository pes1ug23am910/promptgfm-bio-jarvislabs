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851F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5250" cy="1028700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6702980" y="4381500"/>
            <a:ext cx="823020" cy="152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76475" y="3116263"/>
            <a:ext cx="137350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429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PROJECT REVIEW · NODE-TO-SELF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276475" y="3732213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</a:t>
            </a:r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-Bio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2276475" y="4799013"/>
            <a:ext cx="1373505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Prompt-Conditioned Graph Foundation Model for Rare-Disease Gene Mapping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6069013"/>
            <a:ext cx="1143000" cy="28575"/>
          </a:xfrm>
          <a:prstGeom prst="roundRect">
            <a:avLst>
              <a:gd name="adj" fmla="val 50000"/>
            </a:avLst>
          </a:prstGeom>
          <a:solidFill>
            <a:srgbClr val="F5851F"/>
          </a:solidFill>
          <a:ln/>
        </p:spPr>
      </p:sp>
      <p:sp>
        <p:nvSpPr>
          <p:cNvPr id="9" name="Text 6"/>
          <p:cNvSpPr/>
          <p:nvPr/>
        </p:nvSpPr>
        <p:spPr>
          <a:xfrm>
            <a:off x="5410853" y="6554788"/>
            <a:ext cx="441085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Bhaskarjyoti Das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475089" y="6904038"/>
            <a:ext cx="441085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328970" y="6554788"/>
            <a:ext cx="9525" cy="61595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868720" y="6554788"/>
            <a:ext cx="198229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Verma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906820" y="6904038"/>
            <a:ext cx="198229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PES1UG23AM910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400050"/>
            <a:ext cx="1871266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76250"/>
            <a:ext cx="15283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52500"/>
            <a:ext cx="15893415" cy="4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PromptGFM-Bio: </a:t>
            </a:r>
            <a:pPr algn="l" indent="0" marL="0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&amp; Why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666750" y="1333500"/>
            <a:ext cx="9667875" cy="2194322"/>
          </a:xfrm>
          <a:prstGeom prst="roundRect">
            <a:avLst>
              <a:gd name="adj" fmla="val 6077"/>
            </a:avLst>
          </a:prstGeom>
          <a:solidFill>
            <a:srgbClr val="F5851F"/>
          </a:solidFill>
          <a:ln/>
        </p:spPr>
      </p:sp>
      <p:sp>
        <p:nvSpPr>
          <p:cNvPr id="8" name="Text 5"/>
          <p:cNvSpPr/>
          <p:nvPr/>
        </p:nvSpPr>
        <p:spPr>
          <a:xfrm>
            <a:off x="971550" y="1581150"/>
            <a:ext cx="93300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1550" y="1943100"/>
            <a:ext cx="9330023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diseases affect 300M+ people worldwide — yet most have no effective treatment. The core bottleneck is gene discovery : only 1–5 causal genes are known for most diseases, making this a severe long-tail learning problem.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66750" y="3756422"/>
            <a:ext cx="9667875" cy="5863828"/>
          </a:xfrm>
          <a:prstGeom prst="roundRect">
            <a:avLst>
              <a:gd name="adj" fmla="val 2599"/>
            </a:avLst>
          </a:prstGeom>
          <a:solidFill>
            <a:srgbClr val="1E2D7D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4099322"/>
            <a:ext cx="9173051" cy="2018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 frames gene discovery as a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prediction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on a large heterogeneous biomedical knowledge graph (19,576 genes · 16,841 diseases · 1.85M PPI edges). A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GraphSAGE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is paired with a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PubMedBERT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encoder, connected via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conditioning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a disease's natural language description dynamically modulates GNN message passing at </a:t>
            </a:r>
            <a:pPr algn="l" indent="0" marL="0">
              <a:lnSpc>
                <a:spcPct val="170000"/>
              </a:lnSpc>
              <a:buNone/>
            </a:pPr>
            <a:r>
              <a:rPr lang="en-US" sz="1800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715625" y="1333500"/>
            <a:ext cx="69056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F4F6FF"/>
            </a:solidFill>
            <a:prstDash val="solid"/>
          </a:ln>
          <a:effectLst>
            <a:outerShdw sx="100000" sy="100000" kx="0" ky="0" algn="bl" rotWithShape="0" blurRad="228600" dist="38100" dir="5400000">
              <a:srgbClr val="1E2D7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039475" y="16573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E2D7D"/>
          </a:solidFill>
          <a:ln/>
        </p:spPr>
      </p:sp>
      <p:sp>
        <p:nvSpPr>
          <p:cNvPr id="14" name="Text 11"/>
          <p:cNvSpPr/>
          <p:nvPr/>
        </p:nvSpPr>
        <p:spPr>
          <a:xfrm>
            <a:off x="11001375" y="16573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1877675" y="1619250"/>
            <a:ext cx="234672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0.9626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11877675" y="2019300"/>
            <a:ext cx="23467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(best model)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715625" y="2781300"/>
            <a:ext cx="69056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F4F6FF"/>
            </a:solidFill>
            <a:prstDash val="solid"/>
          </a:ln>
          <a:effectLst>
            <a:outerShdw sx="100000" sy="100000" kx="0" ky="0" algn="bl" rotWithShape="0" blurRad="228600" dist="38100" dir="5400000">
              <a:srgbClr val="1E2D7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1039475" y="31051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E2D7D"/>
          </a:solidFill>
          <a:ln/>
        </p:spPr>
      </p:sp>
      <p:sp>
        <p:nvSpPr>
          <p:cNvPr id="19" name="Text 16"/>
          <p:cNvSpPr/>
          <p:nvPr/>
        </p:nvSpPr>
        <p:spPr>
          <a:xfrm>
            <a:off x="11001375" y="31051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877675" y="3067050"/>
            <a:ext cx="30294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55.7%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11877675" y="3467100"/>
            <a:ext cx="30294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gene in Top 50 / 19,576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715625" y="4229100"/>
            <a:ext cx="69056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F4F6FF"/>
            </a:solidFill>
            <a:prstDash val="solid"/>
          </a:ln>
          <a:effectLst>
            <a:outerShdw sx="100000" sy="100000" kx="0" ky="0" algn="bl" rotWithShape="0" blurRad="228600" dist="38100" dir="5400000">
              <a:srgbClr val="1E2D7D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1039475" y="45529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E2D7D"/>
          </a:solidFill>
          <a:ln/>
        </p:spPr>
      </p:sp>
      <p:sp>
        <p:nvSpPr>
          <p:cNvPr id="24" name="Text 21"/>
          <p:cNvSpPr/>
          <p:nvPr/>
        </p:nvSpPr>
        <p:spPr>
          <a:xfrm>
            <a:off x="11001375" y="45529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1877675" y="4514850"/>
            <a:ext cx="36273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392×</a:t>
            </a:r>
            <a:endParaRPr lang="en-US" sz="2850" dirty="0"/>
          </a:p>
        </p:txBody>
      </p:sp>
      <p:sp>
        <p:nvSpPr>
          <p:cNvPr id="26" name="Text 23"/>
          <p:cNvSpPr/>
          <p:nvPr/>
        </p:nvSpPr>
        <p:spPr>
          <a:xfrm>
            <a:off x="11877675" y="4914900"/>
            <a:ext cx="36273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 over random chance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715625" y="5676900"/>
            <a:ext cx="6905625" cy="11811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F4F6FF"/>
            </a:solidFill>
            <a:prstDash val="solid"/>
          </a:ln>
          <a:effectLst>
            <a:outerShdw sx="100000" sy="100000" kx="0" ky="0" algn="bl" rotWithShape="0" blurRad="228600" dist="38100" dir="5400000">
              <a:srgbClr val="1E2D7D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1039475" y="5962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E2D7D"/>
          </a:solidFill>
          <a:ln/>
        </p:spPr>
      </p:sp>
      <p:sp>
        <p:nvSpPr>
          <p:cNvPr id="29" name="Text 26"/>
          <p:cNvSpPr/>
          <p:nvPr/>
        </p:nvSpPr>
        <p:spPr>
          <a:xfrm>
            <a:off x="11001375" y="59626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1877675" y="5972175"/>
            <a:ext cx="48440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11877675" y="6276975"/>
            <a:ext cx="48440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Generalizes to unseen disease associations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35" name="Text 32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657251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13143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1589341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Project Unique?</a:t>
            </a:r>
            <a:endParaRPr lang="en-US" sz="3450" dirty="0"/>
          </a:p>
        </p:txBody>
      </p:sp>
      <p:sp>
        <p:nvSpPr>
          <p:cNvPr id="7" name="Shape 4"/>
          <p:cNvSpPr/>
          <p:nvPr/>
        </p:nvSpPr>
        <p:spPr>
          <a:xfrm>
            <a:off x="6667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6750" y="1619250"/>
            <a:ext cx="5448300" cy="5715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514600"/>
            <a:ext cx="49053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-Conditioned Message Passing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009650" y="3007519"/>
            <a:ext cx="4905375" cy="5653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text dynamically modulates GNN feature transformations at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learned scale (γ) and shift (β) parameters. The language signal enters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reasoning — not as static input features or at the prediction head.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work does this for gene prioritization.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09650" y="8794750"/>
            <a:ext cx="3261618" cy="444500"/>
          </a:xfrm>
          <a:prstGeom prst="roundRect">
            <a:avLst>
              <a:gd name="adj" fmla="val 42857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4750" y="8864600"/>
            <a:ext cx="30292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γ, β = MLP(p) · h′ = γ ⊙ h + β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198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19850" y="1619250"/>
            <a:ext cx="5448300" cy="571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16" name="Text 13"/>
          <p:cNvSpPr/>
          <p:nvPr/>
        </p:nvSpPr>
        <p:spPr>
          <a:xfrm>
            <a:off x="67627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62750" y="2514600"/>
            <a:ext cx="49053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Queries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6762750" y="3007519"/>
            <a:ext cx="4905375" cy="5672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SHEPHERD (requires structured HPO codes) or traditional KGE methods (need disease IDs), PromptGFM-Bio accepts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natural-language disease descriptions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frozen PubMedBERT, enabling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generalization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diseases never seen during training.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762750" y="8813800"/>
            <a:ext cx="4309269" cy="425450"/>
          </a:xfrm>
          <a:prstGeom prst="roundRect">
            <a:avLst>
              <a:gd name="adj" fmla="val 44776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7850" y="8883650"/>
            <a:ext cx="41083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SHEPHERD · KGE · Mantis-ML 2.0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1729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172950" y="1619250"/>
            <a:ext cx="5448300" cy="57150"/>
          </a:xfrm>
          <a:prstGeom prst="rect">
            <a:avLst/>
          </a:prstGeom>
          <a:solidFill>
            <a:srgbClr val="2B3A9E"/>
          </a:solidFill>
          <a:ln/>
        </p:spPr>
      </p:sp>
      <p:sp>
        <p:nvSpPr>
          <p:cNvPr id="23" name="Text 20"/>
          <p:cNvSpPr/>
          <p:nvPr/>
        </p:nvSpPr>
        <p:spPr>
          <a:xfrm>
            <a:off x="125158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515850" y="2514600"/>
            <a:ext cx="49053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Disease-Adaptive 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Traversal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12515850" y="3007519"/>
            <a:ext cx="4905375" cy="5672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PPI network produces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gene representations for different disease prompts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model learns to "look at the graph differently" depending on which disease is being queried. Prior GNN methods (Mantis-ML 2.0, SHEPHERD, KDGene) generate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disease-agnostic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embeddings.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515850" y="8813800"/>
            <a:ext cx="4243388" cy="425450"/>
          </a:xfrm>
          <a:prstGeom prst="roundRect">
            <a:avLst>
              <a:gd name="adj" fmla="val 44776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680950" y="8883650"/>
            <a:ext cx="40404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graph · Different conditioning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31" name="Text 28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657251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13143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1589341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Project Unique?</a:t>
            </a:r>
            <a:endParaRPr lang="en-US" sz="3450" dirty="0"/>
          </a:p>
        </p:txBody>
      </p:sp>
      <p:sp>
        <p:nvSpPr>
          <p:cNvPr id="7" name="Shape 4"/>
          <p:cNvSpPr/>
          <p:nvPr/>
        </p:nvSpPr>
        <p:spPr>
          <a:xfrm>
            <a:off x="6667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6750" y="1619250"/>
            <a:ext cx="5448300" cy="571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514600"/>
            <a:ext cx="49053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Full-Vocabulary 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Ranking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009650" y="3007519"/>
            <a:ext cx="4905375" cy="5672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ranks all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~19,576 candidate genes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disease query — not a small candidate set (SHEPHERD: 13–244 genes) or a few negatives. This is rare in the literature and provides an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 of clinical utility.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09650" y="8813800"/>
            <a:ext cx="3645198" cy="425450"/>
          </a:xfrm>
          <a:prstGeom prst="roundRect">
            <a:avLst>
              <a:gd name="adj" fmla="val 44776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4750" y="8883650"/>
            <a:ext cx="3424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19,576 genes ranked per query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198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19850" y="1619250"/>
            <a:ext cx="5448300" cy="5715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16" name="Text 13"/>
          <p:cNvSpPr/>
          <p:nvPr/>
        </p:nvSpPr>
        <p:spPr>
          <a:xfrm>
            <a:off x="67627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62750" y="2514600"/>
            <a:ext cx="49053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Biomedical Knowledge Graph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6762750" y="3328988"/>
            <a:ext cx="4905375" cy="535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PPI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(1.85M edges),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HPO phenotype bridges, and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Orphanet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single heterogeneous graph with 19,576 genes, 16,841 diseases, and 11,794 phenotypes.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762750" y="8813800"/>
            <a:ext cx="3878163" cy="425450"/>
          </a:xfrm>
          <a:prstGeom prst="roundRect">
            <a:avLst>
              <a:gd name="adj" fmla="val 44776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7850" y="8883650"/>
            <a:ext cx="36643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· 48M+ parameters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172950" y="1619250"/>
            <a:ext cx="5448300" cy="80010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1E2D7D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172950" y="1619250"/>
            <a:ext cx="5448300" cy="57150"/>
          </a:xfrm>
          <a:prstGeom prst="rect">
            <a:avLst/>
          </a:prstGeom>
          <a:solidFill>
            <a:srgbClr val="2B3A9E"/>
          </a:solidFill>
          <a:ln/>
        </p:spPr>
      </p:sp>
      <p:sp>
        <p:nvSpPr>
          <p:cNvPr id="23" name="Text 20"/>
          <p:cNvSpPr/>
          <p:nvPr/>
        </p:nvSpPr>
        <p:spPr>
          <a:xfrm>
            <a:off x="12515850" y="205740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06–07 / 07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515850" y="2514600"/>
            <a:ext cx="49053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</a:t>
            </a:r>
            <a:pPr algn="l" indent="0" marL="0">
              <a:lnSpc>
                <a:spcPct val="125000"/>
              </a:lnSpc>
              <a:buNone/>
            </a:pPr>
            <a:r>
              <a:rPr lang="en-US" sz="2025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Diseases &amp; Combined Ranking Loss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12515850" y="3328988"/>
            <a:ext cx="4905375" cy="535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rare diseases with zero training edges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evaluating true generalization. Combined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 + pairwise margin ranking + ListNet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jointly optimize gene ranking quality — not just classification accuracy.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515850" y="8813800"/>
            <a:ext cx="2667000" cy="425450"/>
          </a:xfrm>
          <a:prstGeom prst="roundRect">
            <a:avLst>
              <a:gd name="adj" fmla="val 44776"/>
            </a:avLst>
          </a:prstGeom>
          <a:solidFill>
            <a:srgbClr val="F4F6FF"/>
          </a:solidFill>
          <a:ln w="12700">
            <a:solidFill>
              <a:srgbClr val="1E2D7D">
                <a:alpha val="1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680950" y="8883650"/>
            <a:ext cx="2416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 · Margin · ListNet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31" name="Text 28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117798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7748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582400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Graph Statistics</a:t>
            </a:r>
            <a:endParaRPr lang="en-US" sz="3450" dirty="0"/>
          </a:p>
        </p:txBody>
      </p:sp>
      <p:sp>
        <p:nvSpPr>
          <p:cNvPr id="7" name="Shape 4"/>
          <p:cNvSpPr/>
          <p:nvPr/>
        </p:nvSpPr>
        <p:spPr>
          <a:xfrm>
            <a:off x="666750" y="1857375"/>
            <a:ext cx="8681343" cy="19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8" name="Text 5"/>
          <p:cNvSpPr/>
          <p:nvPr/>
        </p:nvSpPr>
        <p:spPr>
          <a:xfrm>
            <a:off x="666750" y="1476375"/>
            <a:ext cx="89417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6750" y="2047875"/>
            <a:ext cx="8681343" cy="958850"/>
          </a:xfrm>
          <a:prstGeom prst="roundRect">
            <a:avLst>
              <a:gd name="adj" fmla="val 11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5350" y="2327275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1E2D7D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" y="2384425"/>
            <a:ext cx="142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v12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705100" y="2384425"/>
            <a:ext cx="18323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NETWORK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51772" y="2238375"/>
            <a:ext cx="4601753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protein–protein interactions (score ≥ 9606)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66750" y="3140075"/>
            <a:ext cx="8681343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5350" y="3416300"/>
            <a:ext cx="2132806" cy="400050"/>
          </a:xfrm>
          <a:prstGeom prst="roundRect">
            <a:avLst>
              <a:gd name="adj" fmla="val 19048"/>
            </a:avLst>
          </a:prstGeom>
          <a:solidFill>
            <a:srgbClr val="1E2D7D"/>
          </a:solidFill>
          <a:ln/>
        </p:spPr>
      </p:sp>
      <p:sp>
        <p:nvSpPr>
          <p:cNvPr id="16" name="Text 13"/>
          <p:cNvSpPr/>
          <p:nvPr/>
        </p:nvSpPr>
        <p:spPr>
          <a:xfrm>
            <a:off x="990600" y="3473450"/>
            <a:ext cx="19423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BioGRID 4.4.224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218656" y="3473450"/>
            <a:ext cx="18323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NETWORK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65328" y="3330575"/>
            <a:ext cx="40727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Experimentally validated interactions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66750" y="4225925"/>
            <a:ext cx="8681343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95350" y="4416425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1E2D7D"/>
          </a:solidFill>
          <a:ln/>
        </p:spPr>
      </p:sp>
      <p:sp>
        <p:nvSpPr>
          <p:cNvPr id="21" name="Text 18"/>
          <p:cNvSpPr/>
          <p:nvPr/>
        </p:nvSpPr>
        <p:spPr>
          <a:xfrm>
            <a:off x="990600" y="4473575"/>
            <a:ext cx="142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705100" y="4473575"/>
            <a:ext cx="20264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GENE–DISEASE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45844" y="4473575"/>
            <a:ext cx="40277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gene–disease associations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66750" y="5140325"/>
            <a:ext cx="8681343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95350" y="5416550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1E2D7D"/>
          </a:solidFill>
          <a:ln/>
        </p:spPr>
      </p:sp>
      <p:sp>
        <p:nvSpPr>
          <p:cNvPr id="26" name="Text 23"/>
          <p:cNvSpPr/>
          <p:nvPr/>
        </p:nvSpPr>
        <p:spPr>
          <a:xfrm>
            <a:off x="990600" y="5473700"/>
            <a:ext cx="142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705100" y="5473700"/>
            <a:ext cx="1611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430713" y="5330825"/>
            <a:ext cx="482944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Gene–phenotype mappings, disease ontology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66750" y="6226175"/>
            <a:ext cx="8681343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95350" y="6416675"/>
            <a:ext cx="1619250" cy="400050"/>
          </a:xfrm>
          <a:prstGeom prst="roundRect">
            <a:avLst>
              <a:gd name="adj" fmla="val 19048"/>
            </a:avLst>
          </a:prstGeom>
          <a:solidFill>
            <a:srgbClr val="1E2D7D"/>
          </a:solidFill>
          <a:ln/>
        </p:spPr>
      </p:sp>
      <p:sp>
        <p:nvSpPr>
          <p:cNvPr id="31" name="Text 28"/>
          <p:cNvSpPr/>
          <p:nvPr/>
        </p:nvSpPr>
        <p:spPr>
          <a:xfrm>
            <a:off x="990600" y="6473825"/>
            <a:ext cx="1428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Orphanet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2705100" y="6473825"/>
            <a:ext cx="1888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DISEASE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707731" y="6473825"/>
            <a:ext cx="35155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disease gene associations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729093" y="1857375"/>
            <a:ext cx="7892157" cy="19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35" name="Text 32"/>
          <p:cNvSpPr/>
          <p:nvPr/>
        </p:nvSpPr>
        <p:spPr>
          <a:xfrm>
            <a:off x="9729093" y="1476375"/>
            <a:ext cx="81289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STATISTICS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729093" y="20478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729093" y="2047875"/>
            <a:ext cx="44450" cy="78105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38" name="Text 35"/>
          <p:cNvSpPr/>
          <p:nvPr/>
        </p:nvSpPr>
        <p:spPr>
          <a:xfrm>
            <a:off x="10040243" y="2295525"/>
            <a:ext cx="1408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nodes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6470114" y="2257425"/>
            <a:ext cx="9606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19,576</a:t>
            </a:r>
            <a:endParaRPr lang="en-US" sz="2250" dirty="0"/>
          </a:p>
        </p:txBody>
      </p:sp>
      <p:sp>
        <p:nvSpPr>
          <p:cNvPr id="40" name="Shape 37"/>
          <p:cNvSpPr/>
          <p:nvPr/>
        </p:nvSpPr>
        <p:spPr>
          <a:xfrm>
            <a:off x="9729093" y="29622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729093" y="2962275"/>
            <a:ext cx="44450" cy="78105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42" name="Text 39"/>
          <p:cNvSpPr/>
          <p:nvPr/>
        </p:nvSpPr>
        <p:spPr>
          <a:xfrm>
            <a:off x="10040243" y="3209925"/>
            <a:ext cx="16756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nodes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6468427" y="3171825"/>
            <a:ext cx="96232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16,841</a:t>
            </a:r>
            <a:endParaRPr lang="en-US" sz="2250" dirty="0"/>
          </a:p>
        </p:txBody>
      </p:sp>
      <p:sp>
        <p:nvSpPr>
          <p:cNvPr id="44" name="Shape 41"/>
          <p:cNvSpPr/>
          <p:nvPr/>
        </p:nvSpPr>
        <p:spPr>
          <a:xfrm>
            <a:off x="9729093" y="38766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729093" y="3876675"/>
            <a:ext cx="44450" cy="78105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46" name="Text 43"/>
          <p:cNvSpPr/>
          <p:nvPr/>
        </p:nvSpPr>
        <p:spPr>
          <a:xfrm>
            <a:off x="10040243" y="4124325"/>
            <a:ext cx="20184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 nodes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6488073" y="4086225"/>
            <a:ext cx="94267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11,794</a:t>
            </a:r>
            <a:endParaRPr lang="en-US" sz="2250" dirty="0"/>
          </a:p>
        </p:txBody>
      </p:sp>
      <p:sp>
        <p:nvSpPr>
          <p:cNvPr id="48" name="Shape 45"/>
          <p:cNvSpPr/>
          <p:nvPr/>
        </p:nvSpPr>
        <p:spPr>
          <a:xfrm>
            <a:off x="9729093" y="47910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729093" y="4791075"/>
            <a:ext cx="44450" cy="781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50" name="Text 47"/>
          <p:cNvSpPr/>
          <p:nvPr/>
        </p:nvSpPr>
        <p:spPr>
          <a:xfrm>
            <a:off x="10040243" y="5035550"/>
            <a:ext cx="445203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↔ Gene edges (STRING PPI ≥ 700)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5982057" y="5000625"/>
            <a:ext cx="144869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1,854,012</a:t>
            </a:r>
            <a:endParaRPr lang="en-US" sz="2250" dirty="0"/>
          </a:p>
        </p:txBody>
      </p:sp>
      <p:sp>
        <p:nvSpPr>
          <p:cNvPr id="52" name="Shape 49"/>
          <p:cNvSpPr/>
          <p:nvPr/>
        </p:nvSpPr>
        <p:spPr>
          <a:xfrm>
            <a:off x="9729093" y="57054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729093" y="5705475"/>
            <a:ext cx="44450" cy="781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54" name="Text 51"/>
          <p:cNvSpPr/>
          <p:nvPr/>
        </p:nvSpPr>
        <p:spPr>
          <a:xfrm>
            <a:off x="10040243" y="5949950"/>
            <a:ext cx="259228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→ Disease edges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6028095" y="5915025"/>
            <a:ext cx="140265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9,741,610</a:t>
            </a:r>
            <a:endParaRPr lang="en-US" sz="2250" dirty="0"/>
          </a:p>
        </p:txBody>
      </p:sp>
      <p:sp>
        <p:nvSpPr>
          <p:cNvPr id="56" name="Shape 53"/>
          <p:cNvSpPr/>
          <p:nvPr/>
        </p:nvSpPr>
        <p:spPr>
          <a:xfrm>
            <a:off x="9729093" y="6619875"/>
            <a:ext cx="7892157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1E2D7D">
                <a:alpha val="6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9729093" y="6619875"/>
            <a:ext cx="44450" cy="781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58" name="Text 55"/>
          <p:cNvSpPr/>
          <p:nvPr/>
        </p:nvSpPr>
        <p:spPr>
          <a:xfrm>
            <a:off x="10040243" y="6864350"/>
            <a:ext cx="3624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→ Gene edges (reverse)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16028095" y="6829425"/>
            <a:ext cx="140265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9,741,610</a:t>
            </a:r>
            <a:endParaRPr lang="en-US" sz="2250" dirty="0"/>
          </a:p>
        </p:txBody>
      </p:sp>
      <p:sp>
        <p:nvSpPr>
          <p:cNvPr id="60" name="Shape 57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61" name="Text 58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63" name="Text 60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B3A9E">
              <a:alpha val="2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390452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10475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281977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716" y="1333500"/>
            <a:ext cx="10062468" cy="82866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11" name="Text 7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592560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12496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15893415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Study: Zero-Shot Rare Disease Results </a:t>
            </a:r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8A9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diseases · 3 seeds · Full-vocabulary evaluation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66750" y="2000250"/>
            <a:ext cx="16954500" cy="596900"/>
          </a:xfrm>
          <a:prstGeom prst="rect">
            <a:avLst/>
          </a:prstGeom>
          <a:solidFill>
            <a:srgbClr val="1E2D7D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190750"/>
            <a:ext cx="281795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37013" y="2190750"/>
            <a:ext cx="4966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14702" y="2190750"/>
            <a:ext cx="149086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24663" y="2190750"/>
            <a:ext cx="122257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28236" y="2190750"/>
            <a:ext cx="118159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HIT@50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990832" y="2190750"/>
            <a:ext cx="125303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624866" y="2190750"/>
            <a:ext cx="595453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6750" y="2597150"/>
            <a:ext cx="16954500" cy="683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66750" y="3274021"/>
            <a:ext cx="16954500" cy="9525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7" name="Text 14"/>
          <p:cNvSpPr/>
          <p:nvPr/>
        </p:nvSpPr>
        <p:spPr>
          <a:xfrm>
            <a:off x="895350" y="2787650"/>
            <a:ext cx="2817955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only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037013" y="2787650"/>
            <a:ext cx="496689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4914702" y="2787650"/>
            <a:ext cx="1490861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824663" y="2787650"/>
            <a:ext cx="1222573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0.916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±0.007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8428236" y="2787650"/>
            <a:ext cx="1181596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0.168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±0.030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9990832" y="2787650"/>
            <a:ext cx="1253034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0.026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±0.008</a:t>
            </a:r>
            <a:endParaRPr lang="en-US" sz="1575" dirty="0"/>
          </a:p>
        </p:txBody>
      </p:sp>
      <p:sp>
        <p:nvSpPr>
          <p:cNvPr id="23" name="Text 20"/>
          <p:cNvSpPr/>
          <p:nvPr/>
        </p:nvSpPr>
        <p:spPr>
          <a:xfrm>
            <a:off x="11624866" y="2787650"/>
            <a:ext cx="5954534" cy="34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node embeddings → MLP. No message passing, no prompt conditioning.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666750" y="3280370"/>
            <a:ext cx="16954500" cy="686395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66750" y="3960416"/>
            <a:ext cx="16954500" cy="9525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26" name="Text 23"/>
          <p:cNvSpPr/>
          <p:nvPr/>
        </p:nvSpPr>
        <p:spPr>
          <a:xfrm>
            <a:off x="895350" y="3470870"/>
            <a:ext cx="2817955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only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037013" y="3470870"/>
            <a:ext cx="496689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914702" y="3470870"/>
            <a:ext cx="1490861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824663" y="3470870"/>
            <a:ext cx="1222573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0.926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±0.001</a:t>
            </a:r>
            <a:endParaRPr lang="en-US" sz="1575" dirty="0"/>
          </a:p>
        </p:txBody>
      </p:sp>
      <p:sp>
        <p:nvSpPr>
          <p:cNvPr id="30" name="Text 27"/>
          <p:cNvSpPr/>
          <p:nvPr/>
        </p:nvSpPr>
        <p:spPr>
          <a:xfrm>
            <a:off x="8428236" y="3470870"/>
            <a:ext cx="1181596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0.185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±0.022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9990832" y="3470870"/>
            <a:ext cx="1253034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0.042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±0.017</a:t>
            </a:r>
            <a:endParaRPr lang="en-US" sz="1575" dirty="0"/>
          </a:p>
        </p:txBody>
      </p:sp>
      <p:sp>
        <p:nvSpPr>
          <p:cNvPr id="32" name="Text 29"/>
          <p:cNvSpPr/>
          <p:nvPr/>
        </p:nvSpPr>
        <p:spPr>
          <a:xfrm>
            <a:off x="11624866" y="3470870"/>
            <a:ext cx="5954534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active, but no PPI edges. Prompt signal at prediction only.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666750" y="3966766"/>
            <a:ext cx="16954500" cy="68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666750" y="4646811"/>
            <a:ext cx="16954500" cy="9525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35" name="Text 32"/>
          <p:cNvSpPr/>
          <p:nvPr/>
        </p:nvSpPr>
        <p:spPr>
          <a:xfrm>
            <a:off x="895350" y="4157266"/>
            <a:ext cx="2817955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only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037013" y="4157266"/>
            <a:ext cx="496689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4914702" y="4157266"/>
            <a:ext cx="1490861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6824663" y="4157266"/>
            <a:ext cx="1222573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±0.000</a:t>
            </a:r>
            <a:endParaRPr lang="en-US" sz="1575" dirty="0"/>
          </a:p>
        </p:txBody>
      </p:sp>
      <p:sp>
        <p:nvSpPr>
          <p:cNvPr id="39" name="Text 36"/>
          <p:cNvSpPr/>
          <p:nvPr/>
        </p:nvSpPr>
        <p:spPr>
          <a:xfrm>
            <a:off x="8428236" y="4157266"/>
            <a:ext cx="1181596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0.174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±0.005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9990832" y="4157266"/>
            <a:ext cx="1253034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0.035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±0.020</a:t>
            </a:r>
            <a:endParaRPr lang="en-US" sz="1575" dirty="0"/>
          </a:p>
        </p:txBody>
      </p:sp>
      <p:sp>
        <p:nvSpPr>
          <p:cNvPr id="41" name="Text 38"/>
          <p:cNvSpPr/>
          <p:nvPr/>
        </p:nvSpPr>
        <p:spPr>
          <a:xfrm>
            <a:off x="11624866" y="4157266"/>
            <a:ext cx="5954534" cy="34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message passing active, no FiLM. GraphSAGE without language guidance.</a:t>
            </a:r>
            <a:endParaRPr lang="en-US" sz="1275" dirty="0"/>
          </a:p>
        </p:txBody>
      </p:sp>
      <p:sp>
        <p:nvSpPr>
          <p:cNvPr id="42" name="Shape 39"/>
          <p:cNvSpPr/>
          <p:nvPr/>
        </p:nvSpPr>
        <p:spPr>
          <a:xfrm>
            <a:off x="666750" y="4653161"/>
            <a:ext cx="16954500" cy="692745"/>
          </a:xfrm>
          <a:prstGeom prst="rect">
            <a:avLst/>
          </a:prstGeom>
          <a:solidFill>
            <a:srgbClr val="F5851F">
              <a:alpha val="6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66750" y="5326856"/>
            <a:ext cx="16954500" cy="1905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44" name="Text 41"/>
          <p:cNvSpPr/>
          <p:nvPr/>
        </p:nvSpPr>
        <p:spPr>
          <a:xfrm>
            <a:off x="895350" y="4843661"/>
            <a:ext cx="2817955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PromptGFM-Bio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F5851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★ Best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037013" y="4843661"/>
            <a:ext cx="496689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4914702" y="4843661"/>
            <a:ext cx="1490861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6824663" y="4843661"/>
            <a:ext cx="1222573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0.941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±0.006</a:t>
            </a:r>
            <a:endParaRPr lang="en-US" sz="1575" dirty="0"/>
          </a:p>
        </p:txBody>
      </p:sp>
      <p:sp>
        <p:nvSpPr>
          <p:cNvPr id="48" name="Text 45"/>
          <p:cNvSpPr/>
          <p:nvPr/>
        </p:nvSpPr>
        <p:spPr>
          <a:xfrm>
            <a:off x="8428236" y="4843661"/>
            <a:ext cx="1181596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0.219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±0.018</a:t>
            </a:r>
            <a:endParaRPr lang="en-US" sz="1575" dirty="0"/>
          </a:p>
        </p:txBody>
      </p:sp>
      <p:sp>
        <p:nvSpPr>
          <p:cNvPr id="49" name="Text 46"/>
          <p:cNvSpPr/>
          <p:nvPr/>
        </p:nvSpPr>
        <p:spPr>
          <a:xfrm>
            <a:off x="9990832" y="4843661"/>
            <a:ext cx="1253034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±0.012</a:t>
            </a:r>
            <a:endParaRPr lang="en-US" sz="1575" dirty="0"/>
          </a:p>
        </p:txBody>
      </p:sp>
      <p:sp>
        <p:nvSpPr>
          <p:cNvPr id="50" name="Text 47"/>
          <p:cNvSpPr/>
          <p:nvPr/>
        </p:nvSpPr>
        <p:spPr>
          <a:xfrm>
            <a:off x="11624866" y="4843661"/>
            <a:ext cx="5954534" cy="349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model with prompt-conditioned message passing over PPI graph.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52" name="Text 49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54" name="Text 51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546" y="381000"/>
            <a:ext cx="462955" cy="857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6750" y="381000"/>
            <a:ext cx="1431429" cy="438150"/>
          </a:xfrm>
          <a:prstGeom prst="roundRect">
            <a:avLst>
              <a:gd name="adj" fmla="val 8696"/>
            </a:avLst>
          </a:prstGeom>
          <a:solidFill>
            <a:srgbClr val="F5851F"/>
          </a:solidFill>
          <a:ln/>
        </p:spPr>
      </p:sp>
      <p:sp>
        <p:nvSpPr>
          <p:cNvPr id="5" name="Text 2"/>
          <p:cNvSpPr/>
          <p:nvPr/>
        </p:nvSpPr>
        <p:spPr>
          <a:xfrm>
            <a:off x="876300" y="457200"/>
            <a:ext cx="10885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6750" y="933450"/>
            <a:ext cx="511048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So Far</a:t>
            </a:r>
            <a:endParaRPr lang="en-US" sz="3450" dirty="0"/>
          </a:p>
        </p:txBody>
      </p:sp>
      <p:sp>
        <p:nvSpPr>
          <p:cNvPr id="7" name="Shape 4"/>
          <p:cNvSpPr/>
          <p:nvPr/>
        </p:nvSpPr>
        <p:spPr>
          <a:xfrm>
            <a:off x="666750" y="15049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33450" y="17526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9" name="Text 6"/>
          <p:cNvSpPr/>
          <p:nvPr/>
        </p:nvSpPr>
        <p:spPr>
          <a:xfrm>
            <a:off x="895350" y="17526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90650" y="1804988"/>
            <a:ext cx="29505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Knowledge Graph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54886" y="17526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33450" y="21907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19,576 genes · 16,841 diseases ·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1.85M+ PPI edges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(STRING + BioGRID)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388100" y="15049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54800" y="17526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15" name="Text 12"/>
          <p:cNvSpPr/>
          <p:nvPr/>
        </p:nvSpPr>
        <p:spPr>
          <a:xfrm>
            <a:off x="6616700" y="17526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12000" y="1804988"/>
            <a:ext cx="31551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Dataset Integration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76237" y="17526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654800" y="21907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 · HPO · Orphanet → unified gene–disease supervision (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~1.17M edges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12109450" y="15049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2376150" y="17526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21" name="Text 18"/>
          <p:cNvSpPr/>
          <p:nvPr/>
        </p:nvSpPr>
        <p:spPr>
          <a:xfrm>
            <a:off x="12338050" y="17526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33350" y="1804988"/>
            <a:ext cx="3768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Prompt-Conditioned GNN Architecture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197586" y="17526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2376150" y="21907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GraphSAGE backbone +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conditioning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Frozen PubMedBERT for disease text embeddings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666750" y="427990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33450" y="452755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27" name="Text 24"/>
          <p:cNvSpPr/>
          <p:nvPr/>
        </p:nvSpPr>
        <p:spPr>
          <a:xfrm>
            <a:off x="895350" y="45275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390650" y="4579938"/>
            <a:ext cx="33157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Disease-Specific Message Passing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754886" y="452755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933450" y="496570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graph produces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gene embeddings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disease query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6388100" y="427990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654800" y="452755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33" name="Text 30"/>
          <p:cNvSpPr/>
          <p:nvPr/>
        </p:nvSpPr>
        <p:spPr>
          <a:xfrm>
            <a:off x="6616700" y="45275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112000" y="4579938"/>
            <a:ext cx="256004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Full-Vocabulary Evaluation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476237" y="452755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6654800" y="496570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all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~19.5k genes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disease — realistic, publication-grade setup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12109450" y="427990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2109450" y="4279900"/>
            <a:ext cx="5511800" cy="38100"/>
          </a:xfrm>
          <a:prstGeom prst="rect">
            <a:avLst/>
          </a:prstGeom>
          <a:solidFill>
            <a:srgbClr val="F5851F"/>
          </a:solidFill>
          <a:ln/>
        </p:spPr>
      </p:sp>
      <p:sp>
        <p:nvSpPr>
          <p:cNvPr id="39" name="Shape 36"/>
          <p:cNvSpPr/>
          <p:nvPr/>
        </p:nvSpPr>
        <p:spPr>
          <a:xfrm>
            <a:off x="12376150" y="4565650"/>
            <a:ext cx="342900" cy="342900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40" name="Text 37"/>
          <p:cNvSpPr/>
          <p:nvPr/>
        </p:nvSpPr>
        <p:spPr>
          <a:xfrm>
            <a:off x="12338050" y="45656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2833350" y="4618038"/>
            <a:ext cx="286913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 Achieved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7197586" y="456565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2376150" y="5003800"/>
            <a:ext cx="5127752" cy="2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AUROC: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0.9606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Hit@50: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54.9%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MRR: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0.159</a:t>
            </a:r>
            <a:endParaRPr lang="en-US" sz="1275" dirty="0"/>
          </a:p>
        </p:txBody>
      </p:sp>
      <p:sp>
        <p:nvSpPr>
          <p:cNvPr id="44" name="Shape 41"/>
          <p:cNvSpPr/>
          <p:nvPr/>
        </p:nvSpPr>
        <p:spPr>
          <a:xfrm>
            <a:off x="666750" y="70548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33450" y="73025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46" name="Text 43"/>
          <p:cNvSpPr/>
          <p:nvPr/>
        </p:nvSpPr>
        <p:spPr>
          <a:xfrm>
            <a:off x="895350" y="73025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390650" y="7354888"/>
            <a:ext cx="19461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Framework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5754886" y="73025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933450" y="77406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variants × 3 seeds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isolates contribution of GNN vs prompt conditioning</a:t>
            </a:r>
            <a:endParaRPr lang="en-US" sz="1275" dirty="0"/>
          </a:p>
        </p:txBody>
      </p:sp>
      <p:sp>
        <p:nvSpPr>
          <p:cNvPr id="50" name="Shape 47"/>
          <p:cNvSpPr/>
          <p:nvPr/>
        </p:nvSpPr>
        <p:spPr>
          <a:xfrm>
            <a:off x="6388100" y="70548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654800" y="73025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52" name="Text 49"/>
          <p:cNvSpPr/>
          <p:nvPr/>
        </p:nvSpPr>
        <p:spPr>
          <a:xfrm>
            <a:off x="6616700" y="73025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112000" y="7354888"/>
            <a:ext cx="26617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Zero-Shot Rare Diseases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1476237" y="73025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5" name="Text 52"/>
          <p:cNvSpPr/>
          <p:nvPr/>
        </p:nvSpPr>
        <p:spPr>
          <a:xfrm>
            <a:off x="6654800" y="77406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of generalization to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diseases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training edges</a:t>
            </a:r>
            <a:endParaRPr lang="en-US" sz="1275" dirty="0"/>
          </a:p>
        </p:txBody>
      </p:sp>
      <p:sp>
        <p:nvSpPr>
          <p:cNvPr id="56" name="Shape 53"/>
          <p:cNvSpPr/>
          <p:nvPr/>
        </p:nvSpPr>
        <p:spPr>
          <a:xfrm>
            <a:off x="12109450" y="7054850"/>
            <a:ext cx="5511800" cy="256540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8575" dir="5400000">
              <a:srgbClr val="1E2D7D">
                <a:alpha val="7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12376150" y="7302500"/>
            <a:ext cx="342900" cy="342900"/>
          </a:xfrm>
          <a:prstGeom prst="ellipse">
            <a:avLst/>
          </a:prstGeom>
          <a:solidFill>
            <a:srgbClr val="1E2D7D"/>
          </a:solidFill>
          <a:ln/>
        </p:spPr>
      </p:sp>
      <p:sp>
        <p:nvSpPr>
          <p:cNvPr id="58" name="Text 55"/>
          <p:cNvSpPr/>
          <p:nvPr/>
        </p:nvSpPr>
        <p:spPr>
          <a:xfrm>
            <a:off x="12338050" y="73025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12833350" y="7354888"/>
            <a:ext cx="25857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Training Pipeline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17197586" y="7302500"/>
            <a:ext cx="2331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61" name="Text 58"/>
          <p:cNvSpPr/>
          <p:nvPr/>
        </p:nvSpPr>
        <p:spPr>
          <a:xfrm>
            <a:off x="12376150" y="7740650"/>
            <a:ext cx="5127752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(AMP) · Stable training ·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~2.6h per run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RTX 4090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41E58"/>
          </a:solidFill>
          <a:ln/>
        </p:spPr>
      </p:sp>
      <p:sp>
        <p:nvSpPr>
          <p:cNvPr id="63" name="Text 60"/>
          <p:cNvSpPr/>
          <p:nvPr/>
        </p:nvSpPr>
        <p:spPr>
          <a:xfrm>
            <a:off x="571500" y="9867900"/>
            <a:ext cx="6169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DEEP LEARNING ON GRAPHS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6694686" y="9977438"/>
            <a:ext cx="47625" cy="47625"/>
          </a:xfrm>
          <a:prstGeom prst="ellipse">
            <a:avLst/>
          </a:prstGeom>
          <a:solidFill>
            <a:srgbClr val="F5851F"/>
          </a:solidFill>
          <a:ln/>
        </p:spPr>
      </p:sp>
      <p:sp>
        <p:nvSpPr>
          <p:cNvPr id="65" name="Text 62"/>
          <p:cNvSpPr/>
          <p:nvPr/>
        </p:nvSpPr>
        <p:spPr>
          <a:xfrm>
            <a:off x="6875661" y="9867900"/>
            <a:ext cx="215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PROMPTGFM-BIO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15908934" y="9867900"/>
            <a:ext cx="1883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B3A9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5250" cy="10287000"/>
          </a:xfrm>
          <a:prstGeom prst="rect">
            <a:avLst/>
          </a:prstGeom>
          <a:solidFill>
            <a:srgbClr val="F585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6702980" y="4381500"/>
            <a:ext cx="823020" cy="152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38625" y="2719388"/>
            <a:ext cx="98107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413" kern="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NODE-TO-SELF · COURSE PROJECT REVIEW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238625" y="3246438"/>
            <a:ext cx="981075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5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750" dirty="0"/>
          </a:p>
        </p:txBody>
      </p:sp>
      <p:sp>
        <p:nvSpPr>
          <p:cNvPr id="7" name="Shape 4"/>
          <p:cNvSpPr/>
          <p:nvPr/>
        </p:nvSpPr>
        <p:spPr>
          <a:xfrm>
            <a:off x="8763000" y="5932488"/>
            <a:ext cx="762000" cy="28575"/>
          </a:xfrm>
          <a:prstGeom prst="roundRect">
            <a:avLst>
              <a:gd name="adj" fmla="val 50000"/>
            </a:avLst>
          </a:prstGeom>
          <a:solidFill>
            <a:srgbClr val="F5851F"/>
          </a:solidFill>
          <a:ln/>
        </p:spPr>
      </p:sp>
      <p:sp>
        <p:nvSpPr>
          <p:cNvPr id="8" name="Text 5"/>
          <p:cNvSpPr/>
          <p:nvPr/>
        </p:nvSpPr>
        <p:spPr>
          <a:xfrm>
            <a:off x="4238625" y="6418263"/>
            <a:ext cx="98107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Bhaskarjyoti Das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238625" y="6964363"/>
            <a:ext cx="98107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 in AI &amp; ML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238625" y="7281863"/>
            <a:ext cx="9810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58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bhaskarjyoti01@gmail.com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2026-04-23T21:17:41Z</dcterms:created>
  <dcterms:modified xsi:type="dcterms:W3CDTF">2026-04-23T21:17:41Z</dcterms:modified>
</cp:coreProperties>
</file>