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 AUROC</c:v>
                </c:pt>
              </c:strCache>
            </c:strRef>
          </c:tx>
          <c:spPr>
            <a:solidFill>
              <a:srgbClr val="00A896"/>
            </a:solidFill>
            <a:ln w="31750" cap="flat">
              <a:solidFill>
                <a:srgbClr val="00A89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A896"/>
              </a:solidFill>
              <a:ln w="9525" cap="flat">
                <a:solidFill>
                  <a:srgbClr val="00A89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Ep 1</c:v>
                  </c:pt>
                  <c:pt idx="1">
                    <c:v>Ep 20</c:v>
                  </c:pt>
                  <c:pt idx="2">
                    <c:v>Ep 50</c:v>
                  </c:pt>
                  <c:pt idx="3">
                    <c:v>Ep 87 ★</c:v>
                  </c:pt>
                  <c:pt idx="4">
                    <c:v>Ep 100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0.9243</c:v>
                </c:pt>
                <c:pt idx="1">
                  <c:v>0.94</c:v>
                </c:pt>
                <c:pt idx="2">
                  <c:v>0.951</c:v>
                </c:pt>
                <c:pt idx="3">
                  <c:v>0.9547</c:v>
                </c:pt>
                <c:pt idx="4">
                  <c:v>0.9543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B3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6"/>
          <c:min val="0.91"/>
        </c:scaling>
        <c:delete val="0"/>
        <c:axPos val="l"/>
        <c:majorGridlines>
          <c:spPr>
            <a:ln w="635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B3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220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7000"/>
          </a:solidFill>
          <a:ln w="12700">
            <a:solidFill>
              <a:srgbClr val="E97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D5A"/>
          </a:solidFill>
          <a:ln w="12700">
            <a:solidFill>
              <a:srgbClr val="0D2D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0"/>
            <a:ext cx="13716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70848" y="0"/>
            <a:ext cx="73152" cy="10972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PromptGFM-Bio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Prompt-Conditioned Graph Foundation Model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Rare-Disease Gene Mapping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4114800" cy="36576"/>
          </a:xfrm>
          <a:prstGeom prst="rect">
            <a:avLst/>
          </a:prstGeom>
          <a:solidFill>
            <a:srgbClr val="E97000"/>
          </a:solidFill>
          <a:ln w="12700">
            <a:solidFill>
              <a:srgbClr val="E97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Interdisciplinary Deep Learning on Graphs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Verma  |  PES1UG23AM910  |  Section 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in AI &amp; ML  |  PES University  |  April 2026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160520"/>
            <a:ext cx="2926080" cy="384048"/>
          </a:xfrm>
          <a:prstGeom prst="roundRect">
            <a:avLst>
              <a:gd name="adj" fmla="val 11905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16052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Experiments In Progress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66160" y="4160520"/>
            <a:ext cx="3200400" cy="384048"/>
          </a:xfrm>
          <a:prstGeom prst="roundRect">
            <a:avLst>
              <a:gd name="adj" fmla="val 11905"/>
            </a:avLst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41605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NeurIPS/ICML 2026 Bio-ML Workshop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97000"/>
          </a:solidFill>
          <a:ln w="12700">
            <a:solidFill>
              <a:srgbClr val="E97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2606040" cy="1234440"/>
          </a:xfrm>
          <a:prstGeom prst="rect">
            <a:avLst/>
          </a:prstGeom>
          <a:solidFill>
            <a:srgbClr val="12204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6868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300M+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15544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affected by rare diseases worldwide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868680"/>
            <a:ext cx="2606040" cy="1234440"/>
          </a:xfrm>
          <a:prstGeom prst="rect">
            <a:avLst/>
          </a:prstGeom>
          <a:solidFill>
            <a:srgbClr val="122040"/>
          </a:solidFill>
          <a:ln w="12700">
            <a:solidFill>
              <a:srgbClr val="E97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86868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7,000+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00400" y="15544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rare diseases, most without effective treatment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868680"/>
            <a:ext cx="2606040" cy="1234440"/>
          </a:xfrm>
          <a:prstGeom prst="rect">
            <a:avLst/>
          </a:prstGeom>
          <a:solidFill>
            <a:srgbClr val="122040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86868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080760" y="15544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causal genes per disease (extreme label scarcity)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286000"/>
            <a:ext cx="54864" cy="594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28600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Class Imbalance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256032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disease has 2–5 known gene associations out of 19,576 candidates — a positive rate of ~0.01%.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154680"/>
            <a:ext cx="54864" cy="594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1546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Labels for Rare Diseases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342900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Ultra-rare diseases (≤5 known genes) cannot be learned from labels alone. The model must generalize from disease semantics.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4023360"/>
            <a:ext cx="54864" cy="594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0233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Feature Concatenation Fails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429768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concatenates text embeddings at the prediction head — the language signal never enters graph message passing itself.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solidFill>
            <a:srgbClr val="0E2B4E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Can FiLM-conditioned message passing on disease descriptions improve gene prioritization, including zero-shot generalization?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PromptGFM-Bio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23360" cy="1005840"/>
          </a:xfrm>
          <a:prstGeom prst="rect">
            <a:avLst/>
          </a:prstGeom>
          <a:solidFill>
            <a:srgbClr val="12204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41248"/>
            <a:ext cx="73152" cy="1005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778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PubMedBERT (Frozen)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133856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microsoft/BiomedNLP-PubMedBERT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 pooling → 768-dim embedding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Pre-computed &amp; cached (no per-batch calls)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029968"/>
            <a:ext cx="4023360" cy="1005840"/>
          </a:xfrm>
          <a:prstGeom prst="rect">
            <a:avLst/>
          </a:prstGeom>
          <a:solidFill>
            <a:srgbClr val="122040"/>
          </a:solidFill>
          <a:ln w="12700">
            <a:solidFill>
              <a:srgbClr val="E97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029968"/>
            <a:ext cx="73152" cy="1005840"/>
          </a:xfrm>
          <a:prstGeom prst="rect">
            <a:avLst/>
          </a:prstGeom>
          <a:solidFill>
            <a:srgbClr val="E97000"/>
          </a:solidFill>
          <a:ln w="12700">
            <a:solidFill>
              <a:srgbClr val="E97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665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GraphSAGE Backbone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322576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message-passing layers: 128→512→512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1,854,012 PPI gene-gene edges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aggregation of neighborhoods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218688"/>
            <a:ext cx="4023360" cy="1005840"/>
          </a:xfrm>
          <a:prstGeom prst="rect">
            <a:avLst/>
          </a:prstGeom>
          <a:solidFill>
            <a:srgbClr val="122040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218688"/>
            <a:ext cx="73152" cy="100584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552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Conditioning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511296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γ, β = MLP(prompt)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h' = γ ⊙ h + β  per GNN layer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Init: γ≈1, β≈0 (identity start)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4224528"/>
            <a:ext cx="4023360" cy="777240"/>
          </a:xfrm>
          <a:prstGeom prst="rect">
            <a:avLst/>
          </a:prstGeom>
          <a:solidFill>
            <a:srgbClr val="12204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4224528"/>
            <a:ext cx="73152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26110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 MLP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517136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concat(gene_emb, disease_emb) → score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hidden_dim = 256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 + Ranking + ListNet loss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46320" y="822960"/>
            <a:ext cx="3840480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8229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Text Description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739128" y="1325880"/>
            <a:ext cx="54864" cy="228600"/>
          </a:xfrm>
          <a:prstGeom prst="rect">
            <a:avLst/>
          </a:prstGeom>
          <a:solidFill>
            <a:srgbClr val="8FB3C8"/>
          </a:solidFill>
          <a:ln w="12700">
            <a:solidFill>
              <a:srgbClr val="8FB3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1554480"/>
            <a:ext cx="3840480" cy="457200"/>
          </a:xfrm>
          <a:prstGeom prst="rect">
            <a:avLst/>
          </a:prstGeom>
          <a:solidFill>
            <a:srgbClr val="12204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554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PubMedBERT  →  p ∈ ℝ⁷⁶⁸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739128" y="2011680"/>
            <a:ext cx="54864" cy="228600"/>
          </a:xfrm>
          <a:prstGeom prst="rect">
            <a:avLst/>
          </a:prstGeom>
          <a:solidFill>
            <a:srgbClr val="8FB3C8"/>
          </a:solidFill>
          <a:ln w="12700">
            <a:solidFill>
              <a:srgbClr val="8FB3C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2240280"/>
            <a:ext cx="3840480" cy="457200"/>
          </a:xfrm>
          <a:prstGeom prst="rect">
            <a:avLst/>
          </a:prstGeom>
          <a:solidFill>
            <a:srgbClr val="122040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240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FiLM:  γ,β = MLP(p)  →  h' = γ⊙h+β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739128" y="2697480"/>
            <a:ext cx="54864" cy="228600"/>
          </a:xfrm>
          <a:prstGeom prst="rect">
            <a:avLst/>
          </a:prstGeom>
          <a:solidFill>
            <a:srgbClr val="8FB3C8"/>
          </a:solidFill>
          <a:ln w="12700">
            <a:solidFill>
              <a:srgbClr val="8FB3C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2926080"/>
            <a:ext cx="3840480" cy="457200"/>
          </a:xfrm>
          <a:prstGeom prst="rect">
            <a:avLst/>
          </a:prstGeom>
          <a:solidFill>
            <a:srgbClr val="122040"/>
          </a:solidFill>
          <a:ln w="12700">
            <a:solidFill>
              <a:srgbClr val="E97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9260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GraphSAGE  ×3  (128→512→512)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39128" y="3383280"/>
            <a:ext cx="54864" cy="228600"/>
          </a:xfrm>
          <a:prstGeom prst="rect">
            <a:avLst/>
          </a:prstGeom>
          <a:solidFill>
            <a:srgbClr val="8FB3C8"/>
          </a:solidFill>
          <a:ln w="12700">
            <a:solidFill>
              <a:srgbClr val="8FB3C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3611880"/>
            <a:ext cx="3840480" cy="457200"/>
          </a:xfrm>
          <a:prstGeom prst="rect">
            <a:avLst/>
          </a:prstGeom>
          <a:solidFill>
            <a:srgbClr val="12204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6118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Predictor  →  Gene Score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739128" y="4069080"/>
            <a:ext cx="54864" cy="228600"/>
          </a:xfrm>
          <a:prstGeom prst="rect">
            <a:avLst/>
          </a:prstGeom>
          <a:solidFill>
            <a:srgbClr val="8FB3C8"/>
          </a:solidFill>
          <a:ln w="12700">
            <a:solidFill>
              <a:srgbClr val="8FB3C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46320" y="4297680"/>
            <a:ext cx="384048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42976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Gene List (19,576 candidates)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97000"/>
          </a:solidFill>
          <a:ln w="12700">
            <a:solidFill>
              <a:srgbClr val="E97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&amp; Data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1920240" cy="914400"/>
          </a:xfrm>
          <a:prstGeom prst="rect">
            <a:avLst/>
          </a:prstGeom>
          <a:solidFill>
            <a:srgbClr val="12204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68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19,576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13533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Nodes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841248"/>
            <a:ext cx="1920240" cy="914400"/>
          </a:xfrm>
          <a:prstGeom prst="rect">
            <a:avLst/>
          </a:prstGeom>
          <a:solidFill>
            <a:srgbClr val="122040"/>
          </a:solidFill>
          <a:ln w="12700">
            <a:solidFill>
              <a:srgbClr val="E97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868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16,841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23160" y="13533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Nodes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841248"/>
            <a:ext cx="1920240" cy="914400"/>
          </a:xfrm>
          <a:prstGeom prst="rect">
            <a:avLst/>
          </a:prstGeom>
          <a:solidFill>
            <a:srgbClr val="122040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868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11,794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0" y="13533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Phenotype Nodes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20840" y="841248"/>
            <a:ext cx="1920240" cy="914400"/>
          </a:xfrm>
          <a:prstGeom prst="rect">
            <a:avLst/>
          </a:prstGeom>
          <a:solidFill>
            <a:srgbClr val="12204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868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1.85M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720840" y="13533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PPI Edges (STRING ≥700)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286000"/>
          <a:ext cx="4114800" cy="237744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920240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A896"/>
                          </a:solidFill>
                        </a:rPr>
                        <a:t>Source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A896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A896"/>
                          </a:solidFill>
                        </a:rPr>
                        <a:t>Content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STRING v12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PPI network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High-confidence interactions (≥700)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BioGRID 4.4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PPI network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Experimentally validated interactions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DisGeNET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Gene-disease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Curated gene-disease associations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HPO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Phenotype ontology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Gene-phenotype &amp; disease annotations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Orphanet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Rare disease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Gold-standard rare disease gene sets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4663440" y="1920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Split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663440" y="2331720"/>
            <a:ext cx="4114800" cy="566928"/>
          </a:xfrm>
          <a:prstGeom prst="rect">
            <a:avLst/>
          </a:prstGeom>
          <a:solidFill>
            <a:srgbClr val="12204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54880" y="236829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754880" y="2606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936,114 edges  (80%)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035040" y="2496312"/>
            <a:ext cx="2560320" cy="2286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663440" y="2990088"/>
            <a:ext cx="4114800" cy="566928"/>
          </a:xfrm>
          <a:prstGeom prst="rect">
            <a:avLst/>
          </a:prstGeom>
          <a:solidFill>
            <a:srgbClr val="122040"/>
          </a:solidFill>
          <a:ln w="12700">
            <a:solidFill>
              <a:srgbClr val="E970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54880" y="302666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754880" y="32644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117,014 edges  (10%)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035040" y="3154680"/>
            <a:ext cx="320040" cy="228600"/>
          </a:xfrm>
          <a:prstGeom prst="rect">
            <a:avLst/>
          </a:prstGeom>
          <a:solidFill>
            <a:srgbClr val="E97000"/>
          </a:solidFill>
          <a:ln w="12700">
            <a:solidFill>
              <a:srgbClr val="E9700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63440" y="3648456"/>
            <a:ext cx="4114800" cy="566928"/>
          </a:xfrm>
          <a:prstGeom prst="rect">
            <a:avLst/>
          </a:prstGeom>
          <a:solidFill>
            <a:srgbClr val="122040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54880" y="36850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754880" y="392277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117,015 edges  (10%)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035040" y="3813048"/>
            <a:ext cx="320040" cy="22860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663440" y="43159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random negatives sampled per positive edge  |  seed = 42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solidFill>
            <a:srgbClr val="0E2B4E"/>
          </a:solidFill>
          <a:ln w="12700">
            <a:solidFill>
              <a:srgbClr val="8FB3C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65760" y="4791456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edge labels from HPO phenotype bridge (score ≥0.3 filter) → 1,170,143 of 9.7M raw edges retained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Full Model v6 (Best Checkpoint)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1920240" cy="1005840"/>
          </a:xfrm>
          <a:prstGeom prst="rect">
            <a:avLst/>
          </a:prstGeom>
          <a:solidFill>
            <a:srgbClr val="12204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4124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0.9626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138988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AUROC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60934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at epoch 87 / 100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23160" y="822960"/>
            <a:ext cx="1920240" cy="1005840"/>
          </a:xfrm>
          <a:prstGeom prst="rect">
            <a:avLst/>
          </a:prstGeom>
          <a:solidFill>
            <a:srgbClr val="122040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84124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55.7%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23160" y="138988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Rate@50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23160" y="160934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gene in top 50 of 19,576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822960"/>
            <a:ext cx="1920240" cy="1005840"/>
          </a:xfrm>
          <a:prstGeom prst="rect">
            <a:avLst/>
          </a:prstGeom>
          <a:solidFill>
            <a:srgbClr val="122040"/>
          </a:solidFill>
          <a:ln w="12700">
            <a:solidFill>
              <a:srgbClr val="E97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84124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0.159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72000" y="138988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160934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Reciprocal Rank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20840" y="822960"/>
            <a:ext cx="1920240" cy="1005840"/>
          </a:xfrm>
          <a:prstGeom prst="rect">
            <a:avLst/>
          </a:prstGeom>
          <a:solidFill>
            <a:srgbClr val="12204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84124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32.2%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720840" y="138988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Rate@10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20840" y="160934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gene in top 10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1965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Progression (Val AUROC)</a:t>
            </a:r>
            <a:endParaRPr lang="en-US" sz="13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274320" y="2286000"/>
          <a:ext cx="411480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Text 21"/>
          <p:cNvSpPr/>
          <p:nvPr/>
        </p:nvSpPr>
        <p:spPr>
          <a:xfrm>
            <a:off x="4663440" y="1965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Metrics (Full-Vocabulary Ranking)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2286000"/>
          <a:ext cx="4114800" cy="2194560"/>
        </p:xfrm>
        <a:graphic>
          <a:graphicData uri="http://schemas.openxmlformats.org/drawingml/2006/table">
            <a:tbl>
              <a:tblPr/>
              <a:tblGrid>
                <a:gridCol w="2560320"/>
                <a:gridCol w="1554480"/>
              </a:tblGrid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A896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A896"/>
                          </a:solidFill>
                        </a:rPr>
                        <a:t>Value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8"/>
                          </a:solidFill>
                        </a:rPr>
                        <a:t>Hit Rate@20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8"/>
                          </a:solidFill>
                        </a:rPr>
                        <a:t>41.8%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8"/>
                          </a:solidFill>
                        </a:rPr>
                        <a:t>Hit Rate@100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8"/>
                          </a:solidFill>
                        </a:rPr>
                        <a:t>65.4%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8"/>
                          </a:solidFill>
                        </a:rPr>
                        <a:t>NDCG@50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8"/>
                          </a:solidFill>
                        </a:rPr>
                        <a:t>0.1137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8"/>
                          </a:solidFill>
                        </a:rPr>
                        <a:t>Recall@50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8"/>
                          </a:solidFill>
                        </a:rPr>
                        <a:t>19.4%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8"/>
                          </a:solidFill>
                        </a:rPr>
                        <a:t>MAP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8"/>
                          </a:solidFill>
                        </a:rPr>
                        <a:t>0.0569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FB3C8"/>
                          </a:solidFill>
                        </a:rPr>
                        <a:t>AUPR*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FB3C8"/>
                          </a:solidFill>
                        </a:rPr>
                        <a:t>0.0188*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</a:tr>
            </a:tbl>
          </a:graphicData>
        </a:graphic>
      </p:graphicFrame>
      <p:sp>
        <p:nvSpPr>
          <p:cNvPr id="26" name="Text 22"/>
          <p:cNvSpPr/>
          <p:nvPr/>
        </p:nvSpPr>
        <p:spPr>
          <a:xfrm>
            <a:off x="4663440" y="4526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*AUPR low by design: 0.01% positive rate across 19,576 genes is mathematically expected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274320" y="4828032"/>
            <a:ext cx="8595360" cy="274320"/>
          </a:xfrm>
          <a:prstGeom prst="rect">
            <a:avLst/>
          </a:prstGeom>
          <a:solidFill>
            <a:srgbClr val="0D2D1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392× enrichment over random chance — for 55.7% of rare disease queries, the causal gene is in the top 50 of 19,576 candidates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 Design &amp; Early Results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069080" cy="1261872"/>
          </a:xfrm>
          <a:prstGeom prst="rect">
            <a:avLst/>
          </a:prstGeom>
          <a:solidFill>
            <a:srgbClr val="122040"/>
          </a:solidFill>
          <a:ln w="12700">
            <a:solidFill>
              <a:srgbClr val="8FB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778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Only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0" y="877824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11521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GNN: ✗  |  FiLM: ✗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137160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embeddings → MLP. No message passing, no conditioning. Pure baseline.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180136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AUROC: ~0.955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822960"/>
            <a:ext cx="4069080" cy="1261872"/>
          </a:xfrm>
          <a:prstGeom prst="rect">
            <a:avLst/>
          </a:prstGeom>
          <a:solidFill>
            <a:srgbClr val="122040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7448" y="8778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Only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86600" y="877824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Running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27448" y="11521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GNN: ✗  |  FiLM: 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27448" y="137160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active, no PPI edges. Language signal at prediction head only.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27448" y="180136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AUROC: ~0.943+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240280"/>
            <a:ext cx="4069080" cy="1261872"/>
          </a:xfrm>
          <a:prstGeom prst="rect">
            <a:avLst/>
          </a:prstGeom>
          <a:solidFill>
            <a:srgbClr val="122040"/>
          </a:solidFill>
          <a:ln w="12700">
            <a:solidFill>
              <a:srgbClr val="E97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29514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Only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0" y="2295144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Queued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4048" y="256946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GNN: ✓  |  FiLM: ✗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4048" y="278892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PPI message passing active. FiLM identity (γ=1, β=0). No language guidance.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" y="321868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AUROC: TBD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2240280"/>
            <a:ext cx="4069080" cy="1261872"/>
          </a:xfrm>
          <a:prstGeom prst="rect">
            <a:avLst/>
          </a:prstGeom>
          <a:solidFill>
            <a:srgbClr val="12204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27448" y="229514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PromptGFM-Bio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86600" y="2295144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27448" y="256946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GNN: ✓  |  FiLM: 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27448" y="278892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model. PPI edges + FiLM conditioning. Disease text drives graph traversal.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27448" y="321868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AUROC: 0.9626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794760"/>
            <a:ext cx="8595360" cy="502920"/>
          </a:xfrm>
          <a:prstGeom prst="rect">
            <a:avLst/>
          </a:prstGeom>
          <a:solidFill>
            <a:srgbClr val="0E2B4E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82219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4 variants × 3 random seeds (42, 43, 44) = 12 total runs  |  ~93.5 sec/epoch  |  ~31 hours total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1480" y="405079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Notable: MLP baseline converges at ~0.955 — the earlier 0.813 result used only 5 negatives, not full-vocabulary ranking (evaluation bug now fixed)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4320" y="4389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Paper Table: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681728"/>
          <a:ext cx="8595360" cy="731520"/>
        </p:xfrm>
        <a:graphic>
          <a:graphicData uri="http://schemas.openxmlformats.org/drawingml/2006/table">
            <a:tbl>
              <a:tblPr/>
              <a:tblGrid>
                <a:gridCol w="3291840"/>
                <a:gridCol w="1645920"/>
                <a:gridCol w="1645920"/>
                <a:gridCol w="1645920"/>
              </a:tblGrid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A896"/>
                          </a:solidFill>
                        </a:rPr>
                        <a:t>Variant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A896"/>
                          </a:solidFill>
                        </a:rPr>
                        <a:t>AUROC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A896"/>
                          </a:solidFill>
                        </a:rPr>
                        <a:t>Hit@50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A896"/>
                          </a:solidFill>
                        </a:rPr>
                        <a:t>MRR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MLP Only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~0.955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FB3C8"/>
                          </a:solidFill>
                        </a:rPr>
                        <a:t>TBD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FB3C8"/>
                          </a:solidFill>
                        </a:rPr>
                        <a:t>TBD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Prompt Only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~0.956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FB3C8"/>
                          </a:solidFill>
                        </a:rPr>
                        <a:t>TBD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FB3C8"/>
                          </a:solidFill>
                        </a:rPr>
                        <a:t>TBD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GNN Only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FB3C8"/>
                          </a:solidFill>
                        </a:rPr>
                        <a:t>TBD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FB3C8"/>
                          </a:solidFill>
                        </a:rPr>
                        <a:t>TBD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FB3C8"/>
                          </a:solidFill>
                        </a:rPr>
                        <a:t>TBD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40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A896"/>
                          </a:solidFill>
                        </a:rPr>
                        <a:t>★ Full PromptGFM-Bio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A896"/>
                          </a:solidFill>
                        </a:rPr>
                        <a:t>0.9626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A896"/>
                          </a:solidFill>
                        </a:rPr>
                        <a:t>55.7%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A896"/>
                          </a:solidFill>
                        </a:rPr>
                        <a:t>0.159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2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3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97000"/>
          </a:solidFill>
          <a:ln w="12700">
            <a:solidFill>
              <a:srgbClr val="E97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Evaluation &amp; Publication Roadmap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82296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Rare Disease Evaluation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4114800" cy="731520"/>
          </a:xfrm>
          <a:prstGeom prst="rect">
            <a:avLst/>
          </a:prstGeom>
          <a:solidFill>
            <a:srgbClr val="12204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70432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600200" y="1207008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zero-shot rare diseases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≤5 known genes, absent from train/val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Exceeds SHEPHERD (NeurIPS 2023, ~50 diseases)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0299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011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receives ONLY disease name/description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414016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3957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19,576 genes ranked from scratch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798064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77977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Hit@10, Hit@50, MRR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182112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1638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Angelman, X-linked, ultra-rare metabolic diseases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611880"/>
            <a:ext cx="4114800" cy="365760"/>
          </a:xfrm>
          <a:prstGeom prst="rect">
            <a:avLst/>
          </a:prstGeom>
          <a:solidFill>
            <a:srgbClr val="0E2B4E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63016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after ablation training completes (est. April 6 evening)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63440" y="82296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Plan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3440" y="1170432"/>
            <a:ext cx="4114800" cy="502920"/>
          </a:xfrm>
          <a:prstGeom prst="rect">
            <a:avLst/>
          </a:prstGeom>
          <a:solidFill>
            <a:srgbClr val="12204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20700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  Learning on Graphs (LoG)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144475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2026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1737360"/>
            <a:ext cx="4114800" cy="502920"/>
          </a:xfrm>
          <a:prstGeom prst="rect">
            <a:avLst/>
          </a:prstGeom>
          <a:solidFill>
            <a:srgbClr val="12204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77393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  Graph Learning for Drug Discovery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201168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2026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2304288"/>
            <a:ext cx="4114800" cy="502920"/>
          </a:xfrm>
          <a:prstGeom prst="rect">
            <a:avLst/>
          </a:prstGeom>
          <a:solidFill>
            <a:srgbClr val="12204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34086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  AI for Science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257860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2026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2871216"/>
            <a:ext cx="4114800" cy="502920"/>
          </a:xfrm>
          <a:prstGeom prst="rect">
            <a:avLst/>
          </a:prstGeom>
          <a:solidFill>
            <a:srgbClr val="122040"/>
          </a:solidFill>
          <a:ln w="12700">
            <a:solidFill>
              <a:srgbClr val="8FB3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90779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  Computational Biology Workshop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0" y="314553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ICML 2026 (backup)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63440" y="34747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Timeline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63440" y="3794760"/>
            <a:ext cx="777240" cy="201168"/>
          </a:xfrm>
          <a:prstGeom prst="rect">
            <a:avLst/>
          </a:prstGeom>
          <a:solidFill>
            <a:srgbClr val="0E2B4E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379476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6–7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504688" y="3794760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runs complete + evaluate all models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63440" y="4032504"/>
            <a:ext cx="777240" cy="201168"/>
          </a:xfrm>
          <a:prstGeom prst="rect">
            <a:avLst/>
          </a:prstGeom>
          <a:solidFill>
            <a:srgbClr val="0E2B4E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4032504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7–8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504688" y="4032504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evaluation on 117 rare diseases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4270248"/>
            <a:ext cx="777240" cy="201168"/>
          </a:xfrm>
          <a:prstGeom prst="rect">
            <a:avLst/>
          </a:prstGeom>
          <a:solidFill>
            <a:srgbClr val="0E2B4E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427024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8–12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504688" y="4270248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+ Results sections drafted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63440" y="4507992"/>
            <a:ext cx="777240" cy="201168"/>
          </a:xfrm>
          <a:prstGeom prst="rect">
            <a:avLst/>
          </a:prstGeom>
          <a:solidFill>
            <a:srgbClr val="0E2B4E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450799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12–14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504688" y="450799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Abstract, intro, adversarial review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63440" y="4745736"/>
            <a:ext cx="777240" cy="201168"/>
          </a:xfrm>
          <a:prstGeom prst="rect">
            <a:avLst/>
          </a:prstGeom>
          <a:solidFill>
            <a:srgbClr val="0E2B4E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474573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May–Sep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504688" y="4745736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polish + workshop submission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7000"/>
          </a:solidFill>
          <a:ln w="12700">
            <a:solidFill>
              <a:srgbClr val="E97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0"/>
            <a:ext cx="13716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70848" y="0"/>
            <a:ext cx="73152" cy="10972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486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4572000" cy="36576"/>
          </a:xfrm>
          <a:prstGeom prst="rect">
            <a:avLst/>
          </a:prstGeom>
          <a:solidFill>
            <a:srgbClr val="E97000"/>
          </a:solidFill>
          <a:ln w="12700">
            <a:solidFill>
              <a:srgbClr val="E97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83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Verma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2128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PES1UG23AM910  |  Department of CSE in AI &amp; ML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5603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 University  |  Interdisciplinary Deep Learning on Graphs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4864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301752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63040" y="30175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GraphSAGE + FiLM-conditioned PubMedBERT for gene prioritization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364992"/>
            <a:ext cx="54864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36499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63040" y="33649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0.9626 | Hit@50 = 55.7% | 392× enrichment over random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712464"/>
            <a:ext cx="54864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71246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63040" y="371246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 (12 runs) + zero-shot on 117 rare diseases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059936"/>
            <a:ext cx="54864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405993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63040" y="405993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/ ICML 2026 Bio-ML Workshop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82803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github.com/pes1ug23am910/PromptGFM-Bio  |  Compute: ARC Labs Workstation 6 (RTX 4090)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PromptGFM-Bio</dc:title>
  <dc:subject>PptxGenJS Presentation</dc:subject>
  <dc:creator>Yash Verma</dc:creator>
  <cp:lastModifiedBy>Yash Verma</cp:lastModifiedBy>
  <cp:revision>1</cp:revision>
  <dcterms:created xsi:type="dcterms:W3CDTF">2026-04-06T16:48:42Z</dcterms:created>
  <dcterms:modified xsi:type="dcterms:W3CDTF">2026-04-06T16:48:42Z</dcterms:modified>
</cp:coreProperties>
</file>