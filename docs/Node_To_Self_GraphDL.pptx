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3" r:id="rId3"/>
    <p:sldId id="282" r:id="rId4"/>
    <p:sldId id="284" r:id="rId5"/>
    <p:sldId id="283" r:id="rId6"/>
    <p:sldId id="27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41761D-6855-D076-1C66-6E3FEDCE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7F6C194-7990-1F58-5C42-D1ED03DEA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837ECD6-0FA9-8BF6-66D0-8B1C63282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60A4E0A-568D-A95E-277F-B08DECD822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8992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2DE545E-BF79-91B0-BFCC-53DFBCA9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D16F157-3278-BB89-3252-A998D52AC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F9B45FC-7B2F-740F-AD8C-5E943BEBA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5050AFF-1A8F-28A6-00FC-85B354EA6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878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DA0082C-CA04-7839-AE4E-36DFDF5F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03177B4-852F-59E0-FBBE-9E8B425D1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949EF3A-227E-3845-9711-FC9AFDF7E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052E6C1-CF1E-CA6C-CE09-458D18AEAC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8021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0A20355-8516-CBDF-7711-5C1E66DB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837D892-6366-B351-A2C8-A03E62B05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B1C7FEC-BC5C-B5D4-392B-ED3E363EB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D934D852-3CD3-0FA5-51A8-4B870604C3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914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4781916" y="1688267"/>
            <a:ext cx="749721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Interdisciplinary Deep</a:t>
            </a: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 xml:space="preserve"> Learning On Graphs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781916" y="2841955"/>
            <a:ext cx="7497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 xml:space="preserve">Course Project Review  </a:t>
            </a:r>
            <a:endParaRPr sz="3600" b="1" i="0" u="none" strike="noStrike" cap="none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Node-to-Self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4781916" y="4813108"/>
            <a:ext cx="74972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Yash Verma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PES1UG23AM910 | Section D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3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4" name="Google Shape;94;p1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6" name="Google Shape;96;p13"/>
          <p:cNvCxnSpPr/>
          <p:nvPr/>
        </p:nvCxnSpPr>
        <p:spPr>
          <a:xfrm rot="10800000" flipH="1">
            <a:off x="4781916" y="4112436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7" name="Google Shape;97;p13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8" name="Google Shape;98;p1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" name="Google Shape;10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2638" y="1497243"/>
            <a:ext cx="2058881" cy="38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A433E5E-5F70-2A08-3B74-46F1729B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821F158F-FC61-761D-56DD-B83D9EE79397}"/>
              </a:ext>
            </a:extLst>
          </p:cNvPr>
          <p:cNvSpPr/>
          <p:nvPr/>
        </p:nvSpPr>
        <p:spPr>
          <a:xfrm>
            <a:off x="434226" y="747162"/>
            <a:ext cx="79997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PromptGFM-Bio: Prompt-Conditioned Graph Foundation Model for Rare-Disease Gene Mapping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15">
            <a:extLst>
              <a:ext uri="{FF2B5EF4-FFF2-40B4-BE49-F238E27FC236}">
                <a16:creationId xmlns:a16="http://schemas.microsoft.com/office/drawing/2014/main" id="{56D65F4A-FD40-9B3B-E4B5-0243D6287E1D}"/>
              </a:ext>
            </a:extLst>
          </p:cNvPr>
          <p:cNvCxnSpPr/>
          <p:nvPr/>
        </p:nvCxnSpPr>
        <p:spPr>
          <a:xfrm>
            <a:off x="-8308" y="16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E355D294-9FC3-5D44-1443-B24EC870B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111" y="1961339"/>
            <a:ext cx="10823529" cy="425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Rare diseases affect over 300 million people worldwide, yet most have very few known causal genes. Traditional gene discovery methods struggle with the long-tail distribution where thousands of diseases have extremely limited labeled data.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PromptGFM-Bio addresses this by combining a Graph Neural Network (GraphSAGE) operating on a heterogeneous biomedical knowledge graph with a BioBERT-based prompt encoder that injects disease-specific context via FiLM conditioning. Given a disease description, the model ranks all candidate genes by their predicted association strength.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same graph backbone produces different predictions depending on the disease prompt, enabling adaptive reasoning across diverse rare disease queries from a single trained model.</a:t>
            </a:r>
          </a:p>
        </p:txBody>
      </p:sp>
      <p:pic>
        <p:nvPicPr>
          <p:cNvPr id="125" name="Google Shape;125;p15">
            <a:extLst>
              <a:ext uri="{FF2B5EF4-FFF2-40B4-BE49-F238E27FC236}">
                <a16:creationId xmlns:a16="http://schemas.microsoft.com/office/drawing/2014/main" id="{CC252F07-E532-421F-8D73-47B1F1B049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4889" y="247724"/>
            <a:ext cx="782885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05047B-62A7-1C5B-68C2-AB36A8138D82}"/>
              </a:ext>
            </a:extLst>
          </p:cNvPr>
          <p:cNvSpPr/>
          <p:nvPr/>
        </p:nvSpPr>
        <p:spPr>
          <a:xfrm>
            <a:off x="326971" y="16756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Interdisciplinary Deep Learning on Graphs</a:t>
            </a:r>
          </a:p>
        </p:txBody>
      </p:sp>
    </p:spTree>
    <p:extLst>
      <p:ext uri="{BB962C8B-B14F-4D97-AF65-F5344CB8AC3E}">
        <p14:creationId xmlns:p14="http://schemas.microsoft.com/office/powerpoint/2010/main" val="218974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0D7FC73-03BD-5A2C-3CC8-52D30E8E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6A550E08-94ED-DC22-B571-8D27A599A029}"/>
              </a:ext>
            </a:extLst>
          </p:cNvPr>
          <p:cNvSpPr/>
          <p:nvPr/>
        </p:nvSpPr>
        <p:spPr>
          <a:xfrm>
            <a:off x="434226" y="747162"/>
            <a:ext cx="79997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400"/>
            </a:pP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Makes This Project Unique?</a:t>
            </a:r>
            <a:endParaRPr lang="en-US" dirty="0"/>
          </a:p>
        </p:txBody>
      </p:sp>
      <p:cxnSp>
        <p:nvCxnSpPr>
          <p:cNvPr id="122" name="Google Shape;122;p15">
            <a:extLst>
              <a:ext uri="{FF2B5EF4-FFF2-40B4-BE49-F238E27FC236}">
                <a16:creationId xmlns:a16="http://schemas.microsoft.com/office/drawing/2014/main" id="{7D5328A5-644E-656F-9848-AC099FA551B2}"/>
              </a:ext>
            </a:extLst>
          </p:cNvPr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E49089C5-FFCD-2FF0-4884-C377AE339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111" y="1811339"/>
            <a:ext cx="10823529" cy="44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Prompt-Conditioned Graph Learning: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Disease descriptions encoded by BioBERT serve as active conditioning signals via FiLM modulation, not just static feature concatenation.</a:t>
            </a:r>
          </a:p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Task-Specific Graph Reasoning: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The same biological graph produces different gene rankings depending on the disease prompt, enabling adaptive reasoning per query.</a:t>
            </a:r>
          </a:p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Heterogeneous Biomedical Backbone: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Built on a large-scale heterogeneous graph with 5,363 genes, 16,841 diseases, 11,794 phenotypes, and 1.17M curated gene-disease edges.</a:t>
            </a:r>
          </a:p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Multiple Conditioning Strategies: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Supports FiLM, cross-attention, and hybrid fusion strategies for ablation comparison.</a:t>
            </a:r>
          </a:p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Rare-Disease Focus: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Designed for the long-tail problem with support for rarity-stratified evaluation and few-shot gene discovery splits.</a:t>
            </a:r>
          </a:p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 xml:space="preserve">Combined Loss Objective: 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Jointly optimizes BCE classification loss and margin ranking loss for better gene ranking quality.</a:t>
            </a:r>
          </a:p>
        </p:txBody>
      </p:sp>
      <p:pic>
        <p:nvPicPr>
          <p:cNvPr id="125" name="Google Shape;125;p15">
            <a:extLst>
              <a:ext uri="{FF2B5EF4-FFF2-40B4-BE49-F238E27FC236}">
                <a16:creationId xmlns:a16="http://schemas.microsoft.com/office/drawing/2014/main" id="{7B3D918E-D2C2-8E96-9E85-79E0480B7A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4889" y="247724"/>
            <a:ext cx="782885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E405B5-0D10-2787-8394-CE3423A4E9E9}"/>
              </a:ext>
            </a:extLst>
          </p:cNvPr>
          <p:cNvSpPr/>
          <p:nvPr/>
        </p:nvSpPr>
        <p:spPr>
          <a:xfrm>
            <a:off x="326971" y="16756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Interdisciplinary Deep Learning on Graphs</a:t>
            </a:r>
          </a:p>
        </p:txBody>
      </p:sp>
    </p:spTree>
    <p:extLst>
      <p:ext uri="{BB962C8B-B14F-4D97-AF65-F5344CB8AC3E}">
        <p14:creationId xmlns:p14="http://schemas.microsoft.com/office/powerpoint/2010/main" val="318695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EBD5E2B-31AB-285D-59FD-8AF47E82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F841149D-CA01-7694-0ED1-8AF5F89F9D5B}"/>
              </a:ext>
            </a:extLst>
          </p:cNvPr>
          <p:cNvSpPr/>
          <p:nvPr/>
        </p:nvSpPr>
        <p:spPr>
          <a:xfrm>
            <a:off x="434226" y="747162"/>
            <a:ext cx="79997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400"/>
            </a:pP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Datasets and Graph Structure</a:t>
            </a:r>
            <a:endParaRPr lang="en-US" dirty="0"/>
          </a:p>
        </p:txBody>
      </p:sp>
      <p:cxnSp>
        <p:nvCxnSpPr>
          <p:cNvPr id="122" name="Google Shape;122;p15">
            <a:extLst>
              <a:ext uri="{FF2B5EF4-FFF2-40B4-BE49-F238E27FC236}">
                <a16:creationId xmlns:a16="http://schemas.microsoft.com/office/drawing/2014/main" id="{EC132577-F367-5E68-494E-E1F57E51F6BC}"/>
              </a:ext>
            </a:extLst>
          </p:cNvPr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E51C3423-59C3-01C0-B8BE-C25514430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111" y="1811339"/>
            <a:ext cx="10823529" cy="44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>Data Sources: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BioGRID and STRING: Protein-protein interaction (PPI) networks for gene-gene edges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HPO (Human Phenotype Ontology): Gene-to-phenotype and disease-phenotype annotations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Orphadata: Gold-standard rare disease gene associations for validation</a:t>
            </a:r>
          </a:p>
          <a:p>
            <a:pPr marL="1143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US" sz="1400" b="1" dirty="0">
                <a:latin typeface="Calibri"/>
                <a:ea typeface="Calibri"/>
                <a:cs typeface="Calibri"/>
                <a:sym typeface="Calibri"/>
              </a:rPr>
              <a:t>Processed Graph (PyTorch Geometric HeteroData):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Node types: 5,363 genes | 16,841 diseases | 11,794 phenotypes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Supervised edges: 1,170,143 gene-disease edges (HPO phenotype bridge, IDF-weighted)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Splits: 936K train | 117K val | 117K test (80/10/10) with 5 negative samples per positive</a:t>
            </a:r>
          </a:p>
        </p:txBody>
      </p:sp>
      <p:pic>
        <p:nvPicPr>
          <p:cNvPr id="125" name="Google Shape;125;p15">
            <a:extLst>
              <a:ext uri="{FF2B5EF4-FFF2-40B4-BE49-F238E27FC236}">
                <a16:creationId xmlns:a16="http://schemas.microsoft.com/office/drawing/2014/main" id="{ABD54E8C-B914-65D2-4528-C3DF11289B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4889" y="247724"/>
            <a:ext cx="782885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6A7E23-6CD4-665D-4092-1AB39D7980CA}"/>
              </a:ext>
            </a:extLst>
          </p:cNvPr>
          <p:cNvSpPr/>
          <p:nvPr/>
        </p:nvSpPr>
        <p:spPr>
          <a:xfrm>
            <a:off x="326971" y="16756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Interdisciplinary Deep Learning on Graphs</a:t>
            </a:r>
          </a:p>
        </p:txBody>
      </p:sp>
    </p:spTree>
    <p:extLst>
      <p:ext uri="{BB962C8B-B14F-4D97-AF65-F5344CB8AC3E}">
        <p14:creationId xmlns:p14="http://schemas.microsoft.com/office/powerpoint/2010/main" val="118786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6808AB0-AE8B-804E-8F2E-13D08614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458BD6E1-7D71-1A1C-2901-C771CA86091C}"/>
              </a:ext>
            </a:extLst>
          </p:cNvPr>
          <p:cNvSpPr/>
          <p:nvPr/>
        </p:nvSpPr>
        <p:spPr>
          <a:xfrm>
            <a:off x="434226" y="747162"/>
            <a:ext cx="79997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400"/>
            </a:pP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Project Progress So far</a:t>
            </a:r>
            <a:endParaRPr lang="en-US" dirty="0"/>
          </a:p>
        </p:txBody>
      </p:sp>
      <p:cxnSp>
        <p:nvCxnSpPr>
          <p:cNvPr id="122" name="Google Shape;122;p15">
            <a:extLst>
              <a:ext uri="{FF2B5EF4-FFF2-40B4-BE49-F238E27FC236}">
                <a16:creationId xmlns:a16="http://schemas.microsoft.com/office/drawing/2014/main" id="{09CF2589-758C-7107-D7D7-9018A2333054}"/>
              </a:ext>
            </a:extLst>
          </p:cNvPr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4436CED0-76EC-210F-ADA0-7AFCC94F8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111" y="1811339"/>
            <a:ext cx="10823529" cy="44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</a:pPr>
            <a:r>
              <a:rPr lang="en-US" sz="1300" b="1" dirty="0">
                <a:latin typeface="Calibri"/>
                <a:ea typeface="Calibri"/>
                <a:cs typeface="Calibri"/>
                <a:sym typeface="Calibri"/>
              </a:rPr>
              <a:t>Completed: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✓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Full end-to-end pipeline: data download, preprocessing, training, and evaluation scripts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✓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PromptGFM model: GraphSAGE backbone + BioBERT prompt encoder + FiLM conditioning + MLP predictor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✓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Trained 100 epochs on RTX 4090 with AMP, cosine LR schedule, early stopping at epoch 46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✓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Baseline results: AUROC 0.813 | AUPR 0.462 | Precision@10 = 1.0 | NDCG@100 = 0.929</a:t>
            </a:r>
          </a:p>
          <a:p>
            <a:pPr marL="114300" lvl="0" indent="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300"/>
              <a:buNone/>
            </a:pPr>
            <a:r>
              <a:rPr lang="en-US" sz="1300" b="1" dirty="0">
                <a:latin typeface="Calibri"/>
                <a:ea typeface="Calibri"/>
                <a:cs typeface="Calibri"/>
                <a:sym typeface="Calibri"/>
              </a:rPr>
              <a:t>Identified Improvements (Next Steps):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→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Activate GNN message passing by incorporating PPI gene-gene edges from BioGRID/STRING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→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Replace disease IDs with natural-language prompts (name + phenotype descriptions) for BioBERT</a:t>
            </a:r>
          </a:p>
          <a:p>
            <a:pPr marL="34290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→"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Implement per-disease ranking evaluation and run ablation comparisons (GNN-only vs. PromptGFM)</a:t>
            </a:r>
          </a:p>
        </p:txBody>
      </p:sp>
      <p:pic>
        <p:nvPicPr>
          <p:cNvPr id="125" name="Google Shape;125;p15">
            <a:extLst>
              <a:ext uri="{FF2B5EF4-FFF2-40B4-BE49-F238E27FC236}">
                <a16:creationId xmlns:a16="http://schemas.microsoft.com/office/drawing/2014/main" id="{4A47C9D5-81E3-9837-A35A-DAE71417D7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4889" y="247724"/>
            <a:ext cx="782885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46D8E1-E5ED-06FD-BFA5-7E0A30860A49}"/>
              </a:ext>
            </a:extLst>
          </p:cNvPr>
          <p:cNvSpPr/>
          <p:nvPr/>
        </p:nvSpPr>
        <p:spPr>
          <a:xfrm>
            <a:off x="326971" y="16756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Interdisciplinary Deep Learning on Graphs</a:t>
            </a:r>
          </a:p>
        </p:txBody>
      </p:sp>
    </p:spTree>
    <p:extLst>
      <p:ext uri="{BB962C8B-B14F-4D97-AF65-F5344CB8AC3E}">
        <p14:creationId xmlns:p14="http://schemas.microsoft.com/office/powerpoint/2010/main" val="86239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0" name="Google Shape;350;p36"/>
          <p:cNvCxnSpPr/>
          <p:nvPr/>
        </p:nvCxnSpPr>
        <p:spPr>
          <a:xfrm>
            <a:off x="4696381" y="2807511"/>
            <a:ext cx="45813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36"/>
          <p:cNvSpPr/>
          <p:nvPr/>
        </p:nvSpPr>
        <p:spPr>
          <a:xfrm>
            <a:off x="4563637" y="3913084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PES1UG23AM910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4563637" y="1916736"/>
            <a:ext cx="4603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563637" y="3033048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Yash Verma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4563637" y="3473086"/>
            <a:ext cx="854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 ML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2638" y="1497243"/>
            <a:ext cx="2058881" cy="38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36"/>
          <p:cNvGrpSpPr/>
          <p:nvPr/>
        </p:nvGrpSpPr>
        <p:grpSpPr>
          <a:xfrm>
            <a:off x="313939" y="5489794"/>
            <a:ext cx="1066800" cy="1077941"/>
            <a:chOff x="313939" y="5489794"/>
            <a:chExt cx="1066800" cy="1077941"/>
          </a:xfrm>
        </p:grpSpPr>
        <p:sp>
          <p:nvSpPr>
            <p:cNvPr id="357" name="Google Shape;357;p36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36"/>
          <p:cNvGrpSpPr/>
          <p:nvPr/>
        </p:nvGrpSpPr>
        <p:grpSpPr>
          <a:xfrm rot="10800000">
            <a:off x="10855702" y="266187"/>
            <a:ext cx="1066800" cy="1077941"/>
            <a:chOff x="313939" y="5489794"/>
            <a:chExt cx="1066800" cy="1077941"/>
          </a:xfrm>
        </p:grpSpPr>
        <p:sp>
          <p:nvSpPr>
            <p:cNvPr id="360" name="Google Shape;360;p36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Bhaskar</cp:lastModifiedBy>
  <cp:revision>61</cp:revision>
  <dcterms:modified xsi:type="dcterms:W3CDTF">2026-03-22T02:44:32Z</dcterms:modified>
</cp:coreProperties>
</file>